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svg" ContentType="image/svg+xml"/>
  <Override PartName="/ppt/media/image2.svg" ContentType="image/svg+xml"/>
  <Override PartName="/ppt/media/image28.svg" ContentType="image/svg+xml"/>
  <Override PartName="/ppt/media/image30.svg" ContentType="image/svg+xml"/>
  <Override PartName="/ppt/media/image4.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34"/>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x="18288000" cy="10287000"/>
  <p:notesSz cx="6858000" cy="9144000"/>
  <p:embeddedFontLst>
    <p:embeddedFont>
      <p:font typeface="Source Han Sans JP Bold" charset="1" panose="020B0800000000000000"/>
      <p:regular r:id="rId32"/>
    </p:embeddedFont>
    <p:embeddedFont>
      <p:font typeface="Source Han Sans JP" charset="1" panose="020B0400000000000000"/>
      <p:regular r:id="rId33"/>
    </p:embeddedFont>
    <p:embeddedFont>
      <p:font typeface="Noto Sans JP Bold" charset="1" panose="020B0800000000000000"/>
      <p:regular r:id="rId3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font" Target="fonts/font32.fntdata"/><Relationship Id="rId33" Type="http://schemas.openxmlformats.org/officeDocument/2006/relationships/font" Target="fonts/font33.fntdata"/><Relationship Id="rId34" Type="http://schemas.openxmlformats.org/officeDocument/2006/relationships/notesMaster" Target="notesMasters/notesMaster1.xml"/><Relationship Id="rId35" Type="http://schemas.openxmlformats.org/officeDocument/2006/relationships/theme" Target="theme/theme2.xml"/><Relationship Id="rId36" Type="http://schemas.openxmlformats.org/officeDocument/2006/relationships/notesSlide" Target="notesSlides/notesSlide1.xml"/><Relationship Id="rId37" Type="http://schemas.openxmlformats.org/officeDocument/2006/relationships/font" Target="fonts/font37.fntdata"/><Relationship Id="rId38" Type="http://schemas.openxmlformats.org/officeDocument/2006/relationships/notesSlide" Target="notesSlides/notesSlide2.xml"/><Relationship Id="rId39" Type="http://schemas.openxmlformats.org/officeDocument/2006/relationships/notesSlide" Target="notesSlides/not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・「みやぎゼロカーボンチャレンジ2050戦略の進捗状況について」</a:t>
            </a:r>
          </a:p>
          <a:p>
            <a:r>
              <a:rPr lang="en-US"/>
              <a:t>　目標年度までの必要削減量（千ｔ）：業務1,052、家庭912、運輸1,003</a:t>
            </a:r>
          </a:p>
          <a:p>
            <a:r>
              <a:rPr lang="en-US"/>
              <a:t>「令和8年度の重点対策」のうち</a:t>
            </a:r>
          </a:p>
          <a:p>
            <a:r>
              <a:rPr lang="en-US"/>
              <a:t>「宮城ゼロカーボンチャレンジ2050県民会議」や環境配慮行動促進アプリ等を通じ、宣伝や再配達防止など、家庭・オフィスにおける県民一人一人の脱炭素の取り組みの促進</a:t>
            </a:r>
          </a:p>
          <a:p>
            <a:r>
              <a:rPr lang="en-US"/>
              <a:t>で学生アンバサダーが貢献できる</a:t>
            </a:r>
          </a:p>
          <a:p>
            <a:r>
              <a:rPr lang="en-US"/>
              <a:t/>
            </a:r>
          </a:p>
          <a:p>
            <a:r>
              <a:rPr lang="en-US"/>
              <a:t>・需要側が環境配慮行動の重要性を認識し、企業の社会的責任を問うようになることが、</a:t>
            </a:r>
          </a:p>
          <a:p>
            <a:r>
              <a:rPr lang="en-US"/>
              <a:t>供給側の行動変化に対する一番のインセンティブになる（将来を見据えた社会貢献ではなく、目下の利益追求のために環境配慮が必要になるから）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案1（没）：スタンプを集めるスタイル。紙に書かれたヒントをもとにスタンプを集めていく。子供が視覚的に楽しめる要素が多い。集めたスタンプをもとに景品への道しるべを示す。</a:t>
            </a:r>
          </a:p>
          <a:p>
            <a:r>
              <a:rPr lang="en-US"/>
              <a:t/>
            </a:r>
          </a:p>
          <a:p>
            <a:r>
              <a:rPr lang="en-US"/>
              <a:t>以下原稿↓↓↓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次に広報チラシの活用についてお話しします。[スライドを指し示す]</a:t>
            </a:r>
          </a:p>
          <a:p>
            <a:r>
              <a:rPr lang="en-US"/>
              <a:t/>
            </a:r>
          </a:p>
          <a:p>
            <a:r>
              <a:rPr lang="en-US"/>
              <a:t>イベント側で作成した広報チラシを我々学生が配布することによりイベントのプロモーションをより広範囲に行うことができます。</a:t>
            </a:r>
          </a:p>
          <a:p>
            <a:r>
              <a:rPr lang="en-US"/>
              <a:t/>
            </a:r>
          </a:p>
          <a:p>
            <a:r>
              <a:rPr lang="en-US"/>
              <a:t>配布先の例として、各々の大学に掛け合って設置をお願いすることがまず一つの方法です。大学は多くの学生が集まる場所であり、特に若年層への効果的なアプローチになります。</a:t>
            </a:r>
          </a:p>
          <a:p>
            <a:r>
              <a:rPr lang="en-US"/>
              <a:t>また、各自のアルバイト先にも打診して、可能であれば設置や掲載をお願いしてもいいかもしれません。</a:t>
            </a:r>
          </a:p>
          <a:p>
            <a:r>
              <a:rPr lang="en-US"/>
              <a:t/>
            </a:r>
          </a:p>
          <a:p>
            <a:r>
              <a:rPr lang="en-US"/>
              <a:t>これにより、イベント情報が広く一般の方々にも届くようになります。</a:t>
            </a:r>
          </a:p>
          <a:p>
            <a:r>
              <a:rPr lang="en-US"/>
              <a:t/>
            </a:r>
          </a:p>
          <a:p>
            <a:r>
              <a:rPr lang="en-US"/>
              <a:t>時間：42秒</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9.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1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11.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 Id="rId9" Type="http://schemas.openxmlformats.org/officeDocument/2006/relationships/image" Target="../media/image20.png"/><Relationship Id="rId10" Type="http://schemas.openxmlformats.org/officeDocument/2006/relationships/image" Target="../media/image21.png"/><Relationship Id="rId11" Type="http://schemas.openxmlformats.org/officeDocument/2006/relationships/image" Target="../media/image22.png"/><Relationship Id="rId12" Type="http://schemas.openxmlformats.org/officeDocument/2006/relationships/image" Target="../media/image23.png"/><Relationship Id="rId1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5.png"/><Relationship Id="rId4" Type="http://schemas.openxmlformats.org/officeDocument/2006/relationships/image" Target="../media/image2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0.png"/><Relationship Id="rId5" Type="http://schemas.openxmlformats.org/officeDocument/2006/relationships/image" Target="../media/image11.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9.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7.png"/><Relationship Id="rId5" Type="http://schemas.openxmlformats.org/officeDocument/2006/relationships/image" Target="../media/image28.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9.png"/><Relationship Id="rId5" Type="http://schemas.openxmlformats.org/officeDocument/2006/relationships/image" Target="../media/image30.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2834640"/>
            <a:ext cx="14630400" cy="1554480"/>
          </a:xfrm>
          <a:prstGeom prst="rect">
            <a:avLst/>
          </a:prstGeom>
          <a:noFill/>
        </p:spPr>
        <p:txBody>
          <a:bodyPr wrap="square" lIns="73152" rIns="73152" tIns="36576" bIns="36576">
            <a:spAutoFit/>
          </a:bodyPr>
          <a:lstStyle/>
          <a:p>
            <a:pPr>
              <a:lnSpc>
                <a:spcPct val="115000"/>
              </a:lnSpc>
              <a:spcAft>
                <a:spcPts val="700"/>
              </a:spcAft>
              <a:defRPr sz="7800" b="1">
                <a:solidFill>
                  <a:srgbClr val="167568"/>
                </a:solidFill>
                <a:latin typeface="Noto Sans CJK JP"/>
              </a:defRPr>
            </a:pPr>
            <a:r>
              <a:t>企画提案</a:t>
            </a:r>
          </a:p>
        </p:txBody>
      </p:sp>
      <p:sp>
        <p:nvSpPr>
          <p:cNvPr id="5" name="TextBox 4"/>
          <p:cNvSpPr txBox="1"/>
          <p:nvPr/>
        </p:nvSpPr>
        <p:spPr>
          <a:xfrm>
            <a:off x="1280160" y="4846320"/>
            <a:ext cx="13716000" cy="1920240"/>
          </a:xfrm>
          <a:prstGeom prst="rect">
            <a:avLst/>
          </a:prstGeom>
          <a:noFill/>
        </p:spPr>
        <p:txBody>
          <a:bodyPr wrap="square" lIns="73152" rIns="73152" tIns="36576" bIns="36576">
            <a:spAutoFit/>
          </a:bodyPr>
          <a:lstStyle/>
          <a:p>
            <a:pPr>
              <a:lnSpc>
                <a:spcPct val="115000"/>
              </a:lnSpc>
              <a:spcAft>
                <a:spcPts val="700"/>
              </a:spcAft>
              <a:defRPr sz="4000" b="0">
                <a:solidFill>
                  <a:srgbClr val="17353B"/>
                </a:solidFill>
                <a:latin typeface="Noto Sans CJK JP"/>
              </a:defRPr>
            </a:pPr>
            <a:r>
              <a:t>みやぎゼロカーボン学生アンバサダー</a:t>
            </a:r>
          </a:p>
        </p:txBody>
      </p:sp>
      <p:sp>
        <p:nvSpPr>
          <p:cNvPr id="6" name="TextBox 5"/>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01 / 26</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目 次</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02 / 26</a:t>
            </a:r>
          </a:p>
        </p:txBody>
      </p:sp>
      <p:sp>
        <p:nvSpPr>
          <p:cNvPr id="5" name="Rectangle 4"/>
          <p:cNvSpPr/>
          <p:nvPr/>
        </p:nvSpPr>
        <p:spPr>
          <a:xfrm>
            <a:off x="868680" y="219456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468879"/>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01</a:t>
            </a:r>
          </a:p>
        </p:txBody>
      </p:sp>
      <p:sp>
        <p:nvSpPr>
          <p:cNvPr id="7" name="TextBox 6"/>
          <p:cNvSpPr txBox="1"/>
          <p:nvPr/>
        </p:nvSpPr>
        <p:spPr>
          <a:xfrm>
            <a:off x="2240280" y="2468879"/>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アンバサダーの役割</a:t>
            </a:r>
          </a:p>
        </p:txBody>
      </p:sp>
      <p:sp>
        <p:nvSpPr>
          <p:cNvPr id="8" name="Rectangle 7"/>
          <p:cNvSpPr/>
          <p:nvPr/>
        </p:nvSpPr>
        <p:spPr>
          <a:xfrm>
            <a:off x="868680" y="388620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4160520"/>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02</a:t>
            </a:r>
          </a:p>
        </p:txBody>
      </p:sp>
      <p:sp>
        <p:nvSpPr>
          <p:cNvPr id="10" name="TextBox 9"/>
          <p:cNvSpPr txBox="1"/>
          <p:nvPr/>
        </p:nvSpPr>
        <p:spPr>
          <a:xfrm>
            <a:off x="2240280" y="4160520"/>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昨年度の実績</a:t>
            </a:r>
          </a:p>
        </p:txBody>
      </p:sp>
      <p:sp>
        <p:nvSpPr>
          <p:cNvPr id="11" name="Rectangle 10"/>
          <p:cNvSpPr/>
          <p:nvPr/>
        </p:nvSpPr>
        <p:spPr>
          <a:xfrm>
            <a:off x="868680" y="557784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5852159"/>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03</a:t>
            </a:r>
          </a:p>
        </p:txBody>
      </p:sp>
      <p:sp>
        <p:nvSpPr>
          <p:cNvPr id="13" name="TextBox 12"/>
          <p:cNvSpPr txBox="1"/>
          <p:nvPr/>
        </p:nvSpPr>
        <p:spPr>
          <a:xfrm>
            <a:off x="2240280" y="5852159"/>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今年の目標</a:t>
            </a:r>
          </a:p>
        </p:txBody>
      </p:sp>
      <p:sp>
        <p:nvSpPr>
          <p:cNvPr id="14" name="Rectangle 13"/>
          <p:cNvSpPr/>
          <p:nvPr/>
        </p:nvSpPr>
        <p:spPr>
          <a:xfrm>
            <a:off x="868680" y="726948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7543800"/>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04</a:t>
            </a:r>
          </a:p>
        </p:txBody>
      </p:sp>
      <p:sp>
        <p:nvSpPr>
          <p:cNvPr id="16" name="TextBox 15"/>
          <p:cNvSpPr txBox="1"/>
          <p:nvPr/>
        </p:nvSpPr>
        <p:spPr>
          <a:xfrm>
            <a:off x="2240280" y="7543800"/>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アンケート調査</a:t>
            </a:r>
          </a:p>
        </p:txBody>
      </p:sp>
      <p:sp>
        <p:nvSpPr>
          <p:cNvPr id="17" name="Rectangle 16"/>
          <p:cNvSpPr/>
          <p:nvPr/>
        </p:nvSpPr>
        <p:spPr>
          <a:xfrm>
            <a:off x="9372600" y="219456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573768" y="2468879"/>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05</a:t>
            </a:r>
          </a:p>
        </p:txBody>
      </p:sp>
      <p:sp>
        <p:nvSpPr>
          <p:cNvPr id="19" name="TextBox 18"/>
          <p:cNvSpPr txBox="1"/>
          <p:nvPr/>
        </p:nvSpPr>
        <p:spPr>
          <a:xfrm>
            <a:off x="10744200" y="2468879"/>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回遊促進施策</a:t>
            </a:r>
          </a:p>
        </p:txBody>
      </p:sp>
      <p:sp>
        <p:nvSpPr>
          <p:cNvPr id="20" name="Rectangle 19"/>
          <p:cNvSpPr/>
          <p:nvPr/>
        </p:nvSpPr>
        <p:spPr>
          <a:xfrm>
            <a:off x="9372600" y="388620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73768" y="4160520"/>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06</a:t>
            </a:r>
          </a:p>
        </p:txBody>
      </p:sp>
      <p:sp>
        <p:nvSpPr>
          <p:cNvPr id="22" name="TextBox 21"/>
          <p:cNvSpPr txBox="1"/>
          <p:nvPr/>
        </p:nvSpPr>
        <p:spPr>
          <a:xfrm>
            <a:off x="10744200" y="4160520"/>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広報施策</a:t>
            </a:r>
          </a:p>
        </p:txBody>
      </p:sp>
      <p:sp>
        <p:nvSpPr>
          <p:cNvPr id="23" name="Rectangle 22"/>
          <p:cNvSpPr/>
          <p:nvPr/>
        </p:nvSpPr>
        <p:spPr>
          <a:xfrm>
            <a:off x="9372600" y="557784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73768" y="5852159"/>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07</a:t>
            </a:r>
          </a:p>
        </p:txBody>
      </p:sp>
      <p:sp>
        <p:nvSpPr>
          <p:cNvPr id="25" name="TextBox 24"/>
          <p:cNvSpPr txBox="1"/>
          <p:nvPr/>
        </p:nvSpPr>
        <p:spPr>
          <a:xfrm>
            <a:off x="10744200" y="5852159"/>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想定される効果</a:t>
            </a:r>
          </a:p>
        </p:txBody>
      </p:sp>
      <p:sp>
        <p:nvSpPr>
          <p:cNvPr id="26" name="Rectangle 25"/>
          <p:cNvSpPr/>
          <p:nvPr/>
        </p:nvSpPr>
        <p:spPr>
          <a:xfrm>
            <a:off x="9372600" y="7269480"/>
            <a:ext cx="80467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73768" y="7543800"/>
            <a:ext cx="1097280" cy="64008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08</a:t>
            </a:r>
          </a:p>
        </p:txBody>
      </p:sp>
      <p:sp>
        <p:nvSpPr>
          <p:cNvPr id="28" name="TextBox 27"/>
          <p:cNvSpPr txBox="1"/>
          <p:nvPr/>
        </p:nvSpPr>
        <p:spPr>
          <a:xfrm>
            <a:off x="10744200" y="7543800"/>
            <a:ext cx="6400800" cy="731520"/>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終わりに</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アンバサダーの役割</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03 / 26</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name="Freeform 11" id="11"/>
          <p:cNvSpPr/>
          <p:nvPr/>
        </p:nvSpPr>
        <p:spPr>
          <a:xfrm flipH="false" flipV="false" rot="0">
            <a:off x="7955279" y="2103120"/>
            <a:ext cx="9509760" cy="6976872"/>
          </a:xfrm>
          <a:custGeom>
            <a:avLst/>
            <a:gdLst/>
            <a:ahLst/>
            <a:cxnLst/>
            <a:rect r="r" b="b" t="t" l="l"/>
            <a:pathLst>
              <a:path h="6729358" w="9178477">
                <a:moveTo>
                  <a:pt x="0" y="0"/>
                </a:moveTo>
                <a:lnTo>
                  <a:pt x="9178478" y="0"/>
                </a:lnTo>
                <a:lnTo>
                  <a:pt x="9178478" y="6729358"/>
                </a:lnTo>
                <a:lnTo>
                  <a:pt x="0" y="6729358"/>
                </a:lnTo>
                <a:lnTo>
                  <a:pt x="0" y="0"/>
                </a:lnTo>
                <a:close/>
              </a:path>
            </a:pathLst>
          </a:custGeom>
          <a:blipFill>
            <a:blip r:embed="rId3"/>
            <a:stretch>
              <a:fillRect l="-1179" t="-2070" r="-1015" b="-2107"/>
            </a:stretch>
          </a:blipFill>
        </p:spPr>
        <p:txBody>
          <a:bodyPr/>
          <a:p/>
        </p:txBody>
      </p:sp>
      <p:pic>
        <p:nvPicPr>
          <p:cNvPr name="Picture 17" id="17"/>
          <p:cNvPicPr>
            <a:picLocks noChangeAspect="true"/>
          </p:cNvPicPr>
          <p:nvPr/>
        </p:nvPicPr>
        <p:blipFill>
          <a:blip r:embed="rId5"/>
          <a:srcRect l="0" t="0" r="0" b="0"/>
          <a:stretch>
            <a:fillRect/>
          </a:stretch>
        </p:blipFill>
        <p:spPr>
          <a:xfrm flipH="false" flipV="false" rot="0">
            <a:off x="8211312" y="8412480"/>
            <a:ext cx="356616" cy="283464"/>
          </a:xfrm>
          <a:prstGeom prst="rect">
            <a:avLst/>
          </a:prstGeom>
        </p:spPr>
      </p:pic>
      <p:sp>
        <p:nvSpPr>
          <p:cNvPr id="18" name="TextBox 17"/>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アンバサダーの役割</a:t>
            </a:r>
          </a:p>
        </p:txBody>
      </p:sp>
      <p:sp>
        <p:nvSpPr>
          <p:cNvPr id="19" name="Rectangle 18"/>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04 / 26</a:t>
            </a:r>
          </a:p>
        </p:txBody>
      </p:sp>
      <p:sp>
        <p:nvSpPr>
          <p:cNvPr id="21" name="Rectangle 20"/>
          <p:cNvSpPr/>
          <p:nvPr/>
        </p:nvSpPr>
        <p:spPr>
          <a:xfrm>
            <a:off x="822960" y="2194560"/>
            <a:ext cx="6583680" cy="6126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2960" y="2194560"/>
            <a:ext cx="54864" cy="61264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4128" y="2322576"/>
            <a:ext cx="6181344" cy="5870448"/>
          </a:xfrm>
          <a:prstGeom prst="rect">
            <a:avLst/>
          </a:prstGeom>
          <a:noFill/>
        </p:spPr>
        <p:txBody>
          <a:bodyPr wrap="square" lIns="73152" rIns="73152" tIns="36576" bIns="36576">
            <a:spAutoFit/>
          </a:bodyPr>
          <a:lstStyle/>
          <a:p>
            <a:pPr>
              <a:lnSpc>
                <a:spcPct val="115000"/>
              </a:lnSpc>
              <a:spcAft>
                <a:spcPts val="700"/>
              </a:spcAft>
              <a:defRPr sz="3100" b="0">
                <a:solidFill>
                  <a:srgbClr val="17353B"/>
                </a:solidFill>
                <a:latin typeface="Noto Sans CJK JP"/>
              </a:defRPr>
            </a:pPr>
            <a:r>
              <a:t>・家庭の意識向上　→　家庭部門の減量</a:t>
            </a:r>
          </a:p>
          <a:p>
            <a:pPr>
              <a:lnSpc>
                <a:spcPct val="115000"/>
              </a:lnSpc>
              <a:spcAft>
                <a:spcPts val="700"/>
              </a:spcAft>
              <a:defRPr sz="3100" b="0">
                <a:solidFill>
                  <a:srgbClr val="17353B"/>
                </a:solidFill>
                <a:latin typeface="Noto Sans CJK JP"/>
              </a:defRPr>
            </a:pPr>
            <a:r>
              <a:t>・再配達防止　→　運輸部門への貢献</a:t>
            </a:r>
          </a:p>
          <a:p>
            <a:pPr>
              <a:lnSpc>
                <a:spcPct val="115000"/>
              </a:lnSpc>
              <a:spcAft>
                <a:spcPts val="700"/>
              </a:spcAft>
              <a:defRPr sz="3100" b="0">
                <a:solidFill>
                  <a:srgbClr val="17353B"/>
                </a:solidFill>
                <a:latin typeface="Noto Sans CJK JP"/>
              </a:defRPr>
            </a:pPr>
          </a:p>
          <a:p>
            <a:pPr>
              <a:lnSpc>
                <a:spcPct val="115000"/>
              </a:lnSpc>
              <a:spcAft>
                <a:spcPts val="700"/>
              </a:spcAft>
              <a:defRPr sz="3100" b="0">
                <a:solidFill>
                  <a:srgbClr val="17353B"/>
                </a:solidFill>
                <a:latin typeface="Noto Sans CJK JP"/>
              </a:defRPr>
            </a:pPr>
            <a:r>
              <a:t>・消費者・労働者の意識向上　→</a:t>
            </a:r>
          </a:p>
          <a:p>
            <a:pPr>
              <a:lnSpc>
                <a:spcPct val="115000"/>
              </a:lnSpc>
              <a:spcAft>
                <a:spcPts val="700"/>
              </a:spcAft>
              <a:defRPr sz="3100" b="0">
                <a:solidFill>
                  <a:srgbClr val="17353B"/>
                </a:solidFill>
                <a:latin typeface="Noto Sans CJK JP"/>
              </a:defRPr>
            </a:pPr>
            <a:r>
              <a:t>　企業の意識向上　→　業務部門の減量へ</a:t>
            </a:r>
          </a:p>
        </p:txBody>
      </p:sp>
      <p:sp>
        <p:nvSpPr>
          <p:cNvPr id="24" name="TextBox 23"/>
          <p:cNvSpPr txBox="1"/>
          <p:nvPr/>
        </p:nvSpPr>
        <p:spPr>
          <a:xfrm>
            <a:off x="868680" y="8595360"/>
            <a:ext cx="6400800" cy="914400"/>
          </a:xfrm>
          <a:prstGeom prst="rect">
            <a:avLst/>
          </a:prstGeom>
          <a:noFill/>
        </p:spPr>
        <p:txBody>
          <a:bodyPr wrap="square" lIns="73152" rIns="73152" tIns="36576" bIns="36576">
            <a:spAutoFit/>
          </a:bodyPr>
          <a:lstStyle/>
          <a:p>
            <a:pPr>
              <a:lnSpc>
                <a:spcPct val="115000"/>
              </a:lnSpc>
              <a:spcAft>
                <a:spcPts val="700"/>
              </a:spcAft>
              <a:defRPr sz="2200" b="0">
                <a:solidFill>
                  <a:srgbClr val="53676D"/>
                </a:solidFill>
                <a:latin typeface="Noto Sans CJK JP"/>
              </a:defRPr>
            </a:pPr>
            <a:r>
              <a:t>（出典）「みやぎゼロカーボンチャレンジ2050戦略の進捗状況について」</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昨年度の実績と課題</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05 / 26</a:t>
            </a:r>
          </a:p>
        </p:txBody>
      </p:sp>
      <p:sp>
        <p:nvSpPr>
          <p:cNvPr id="5" name="TextBox 4"/>
          <p:cNvSpPr txBox="1"/>
          <p:nvPr/>
        </p:nvSpPr>
        <p:spPr>
          <a:xfrm>
            <a:off x="868680" y="1901952"/>
            <a:ext cx="16459200" cy="640080"/>
          </a:xfrm>
          <a:prstGeom prst="rect">
            <a:avLst/>
          </a:prstGeom>
          <a:noFill/>
        </p:spPr>
        <p:txBody>
          <a:bodyPr wrap="square" lIns="73152" rIns="73152" tIns="36576" bIns="36576">
            <a:spAutoFit/>
          </a:bodyPr>
          <a:lstStyle/>
          <a:p>
            <a:pPr>
              <a:lnSpc>
                <a:spcPct val="115000"/>
              </a:lnSpc>
              <a:spcAft>
                <a:spcPts val="700"/>
              </a:spcAft>
              <a:defRPr sz="2800" b="0">
                <a:solidFill>
                  <a:srgbClr val="17353B"/>
                </a:solidFill>
                <a:latin typeface="Noto Sans CJK JP"/>
              </a:defRPr>
            </a:pPr>
            <a:r>
              <a:t>ゼロカーボン大作戦の来場者アンケート結果とアンバサダーの反省点：</a:t>
            </a:r>
          </a:p>
        </p:txBody>
      </p:sp>
      <p:sp>
        <p:nvSpPr>
          <p:cNvPr id="6" name="Rectangle 5"/>
          <p:cNvSpPr/>
          <p:nvPr/>
        </p:nvSpPr>
        <p:spPr>
          <a:xfrm>
            <a:off x="868680" y="2697480"/>
            <a:ext cx="165506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2697480"/>
            <a:ext cx="54864" cy="12344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2825496"/>
            <a:ext cx="16148304" cy="978408"/>
          </a:xfrm>
          <a:prstGeom prst="rect">
            <a:avLst/>
          </a:prstGeom>
          <a:noFill/>
        </p:spPr>
        <p:txBody>
          <a:bodyPr wrap="square" lIns="73152" rIns="73152" tIns="36576" bIns="36576">
            <a:spAutoFit/>
          </a:bodyPr>
          <a:lstStyle/>
          <a:p>
            <a:pPr>
              <a:lnSpc>
                <a:spcPct val="115000"/>
              </a:lnSpc>
              <a:spcAft>
                <a:spcPts val="700"/>
              </a:spcAft>
              <a:defRPr sz="3000" b="0">
                <a:solidFill>
                  <a:srgbClr val="17353B"/>
                </a:solidFill>
                <a:latin typeface="Noto Sans CJK JP"/>
              </a:defRPr>
            </a:pPr>
            <a:r>
              <a:t>①デジタルマーケティングの活用が必要　人数の関係でSNS担当を用意できなかった</a:t>
            </a:r>
          </a:p>
        </p:txBody>
      </p:sp>
      <p:sp>
        <p:nvSpPr>
          <p:cNvPr id="9" name="Rectangle 8"/>
          <p:cNvSpPr/>
          <p:nvPr/>
        </p:nvSpPr>
        <p:spPr>
          <a:xfrm>
            <a:off x="868680" y="4206240"/>
            <a:ext cx="165506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68680" y="4206240"/>
            <a:ext cx="54864" cy="22402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4334255"/>
            <a:ext cx="16148304" cy="1984248"/>
          </a:xfrm>
          <a:prstGeom prst="rect">
            <a:avLst/>
          </a:prstGeom>
          <a:noFill/>
        </p:spPr>
        <p:txBody>
          <a:bodyPr wrap="square" lIns="73152" rIns="73152" tIns="36576" bIns="36576">
            <a:spAutoFit/>
          </a:bodyPr>
          <a:lstStyle/>
          <a:p>
            <a:pPr>
              <a:lnSpc>
                <a:spcPct val="115000"/>
              </a:lnSpc>
              <a:spcAft>
                <a:spcPts val="700"/>
              </a:spcAft>
              <a:defRPr sz="2500" b="0">
                <a:solidFill>
                  <a:srgbClr val="17353B"/>
                </a:solidFill>
                <a:latin typeface="Noto Sans CJK JP"/>
              </a:defRPr>
            </a:pPr>
            <a:r>
              <a:t>②体験型・クイズ型・ワークショップ型の企画が人気</a:t>
            </a:r>
          </a:p>
          <a:p>
            <a:pPr>
              <a:lnSpc>
                <a:spcPct val="115000"/>
              </a:lnSpc>
              <a:spcAft>
                <a:spcPts val="700"/>
              </a:spcAft>
              <a:defRPr sz="2500" b="0">
                <a:solidFill>
                  <a:srgbClr val="17353B"/>
                </a:solidFill>
                <a:latin typeface="Noto Sans CJK JP"/>
              </a:defRPr>
            </a:pPr>
            <a:r>
              <a:t>来場者数1419名に対し、ビンゴ形式のクイズゲーム100名、日本郵便さんとの合同企画</a:t>
            </a:r>
          </a:p>
          <a:p>
            <a:pPr>
              <a:lnSpc>
                <a:spcPct val="115000"/>
              </a:lnSpc>
              <a:spcAft>
                <a:spcPts val="700"/>
              </a:spcAft>
              <a:defRPr sz="2500" b="0">
                <a:solidFill>
                  <a:srgbClr val="17353B"/>
                </a:solidFill>
                <a:latin typeface="Noto Sans CJK JP"/>
              </a:defRPr>
            </a:pPr>
            <a:r>
              <a:t>（置き配体験）242名。このうち前者は「印象に残った・楽しかったイベントやブース」1位！</a:t>
            </a:r>
          </a:p>
        </p:txBody>
      </p:sp>
      <p:sp>
        <p:nvSpPr>
          <p:cNvPr id="12" name="Rectangle 11"/>
          <p:cNvSpPr/>
          <p:nvPr/>
        </p:nvSpPr>
        <p:spPr>
          <a:xfrm>
            <a:off x="868680" y="6720840"/>
            <a:ext cx="530352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68680" y="6720840"/>
            <a:ext cx="54864" cy="26517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6848855"/>
            <a:ext cx="4901183" cy="2395728"/>
          </a:xfrm>
          <a:prstGeom prst="rect">
            <a:avLst/>
          </a:prstGeom>
          <a:noFill/>
        </p:spPr>
        <p:txBody>
          <a:bodyPr wrap="square" lIns="73152" rIns="73152" tIns="36576" bIns="36576">
            <a:spAutoFit/>
          </a:bodyPr>
          <a:lstStyle/>
          <a:p>
            <a:pPr>
              <a:lnSpc>
                <a:spcPct val="115000"/>
              </a:lnSpc>
              <a:spcAft>
                <a:spcPts val="700"/>
              </a:spcAft>
              <a:defRPr sz="2700" b="0">
                <a:solidFill>
                  <a:srgbClr val="17353B"/>
                </a:solidFill>
                <a:latin typeface="Noto Sans CJK JP"/>
              </a:defRPr>
            </a:pPr>
            <a:r>
              <a:t>③滞在時間の最多は1時間未満　今年度はイベント全体を一つの体験型コンテンツにしたい</a:t>
            </a:r>
          </a:p>
        </p:txBody>
      </p:sp>
      <p:sp>
        <p:nvSpPr>
          <p:cNvPr id="15" name="Rectangle 14"/>
          <p:cNvSpPr/>
          <p:nvPr/>
        </p:nvSpPr>
        <p:spPr>
          <a:xfrm>
            <a:off x="6492240" y="6720840"/>
            <a:ext cx="530352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6720840"/>
            <a:ext cx="54864" cy="26517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93408" y="6848855"/>
            <a:ext cx="4901183" cy="2395728"/>
          </a:xfrm>
          <a:prstGeom prst="rect">
            <a:avLst/>
          </a:prstGeom>
          <a:noFill/>
        </p:spPr>
        <p:txBody>
          <a:bodyPr wrap="square" lIns="73152" rIns="73152" tIns="36576" bIns="36576">
            <a:spAutoFit/>
          </a:bodyPr>
          <a:lstStyle/>
          <a:p>
            <a:pPr>
              <a:lnSpc>
                <a:spcPct val="115000"/>
              </a:lnSpc>
              <a:spcAft>
                <a:spcPts val="700"/>
              </a:spcAft>
              <a:defRPr sz="2200" b="0">
                <a:solidFill>
                  <a:srgbClr val="17353B"/>
                </a:solidFill>
                <a:latin typeface="Noto Sans CJK JP"/>
              </a:defRPr>
            </a:pPr>
            <a:r>
              <a:t>④大人だけで来場した人が楽しめる展示が無かった</a:t>
            </a:r>
          </a:p>
          <a:p>
            <a:pPr>
              <a:lnSpc>
                <a:spcPct val="115000"/>
              </a:lnSpc>
              <a:spcAft>
                <a:spcPts val="700"/>
              </a:spcAft>
              <a:defRPr sz="2200" b="0">
                <a:solidFill>
                  <a:srgbClr val="17353B"/>
                </a:solidFill>
                <a:latin typeface="Noto Sans CJK JP"/>
              </a:defRPr>
            </a:pPr>
            <a:r>
              <a:t>年齢層ごとに別のコンテンツを準備する等の工夫を考える必要あり。</a:t>
            </a:r>
          </a:p>
        </p:txBody>
      </p:sp>
      <p:sp>
        <p:nvSpPr>
          <p:cNvPr id="18" name="Rectangle 17"/>
          <p:cNvSpPr/>
          <p:nvPr/>
        </p:nvSpPr>
        <p:spPr>
          <a:xfrm>
            <a:off x="12115800" y="6720840"/>
            <a:ext cx="5303520" cy="2651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2115800" y="6720840"/>
            <a:ext cx="54864" cy="26517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316968" y="6848855"/>
            <a:ext cx="4901183" cy="2395728"/>
          </a:xfrm>
          <a:prstGeom prst="rect">
            <a:avLst/>
          </a:prstGeom>
          <a:noFill/>
        </p:spPr>
        <p:txBody>
          <a:bodyPr wrap="square" lIns="73152" rIns="73152" tIns="36576" bIns="36576">
            <a:spAutoFit/>
          </a:bodyPr>
          <a:lstStyle/>
          <a:p>
            <a:pPr>
              <a:lnSpc>
                <a:spcPct val="115000"/>
              </a:lnSpc>
              <a:spcAft>
                <a:spcPts val="700"/>
              </a:spcAft>
              <a:defRPr sz="2400" b="0">
                <a:solidFill>
                  <a:srgbClr val="17353B"/>
                </a:solidFill>
                <a:latin typeface="Noto Sans CJK JP"/>
              </a:defRPr>
            </a:pPr>
            <a:r>
              <a:t>⑤アンケートの回答数が少ない</a:t>
            </a:r>
          </a:p>
          <a:p>
            <a:pPr>
              <a:lnSpc>
                <a:spcPct val="115000"/>
              </a:lnSpc>
              <a:spcAft>
                <a:spcPts val="700"/>
              </a:spcAft>
              <a:defRPr sz="2400" b="0">
                <a:solidFill>
                  <a:srgbClr val="17353B"/>
                </a:solidFill>
                <a:latin typeface="Noto Sans CJK JP"/>
              </a:defRPr>
            </a:pPr>
            <a:r>
              <a:t>スマホを使ったコンテンツを作り、送信前にミニアンケートを回答してもらうなどの工夫が必要</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今年の目標</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06 / 26</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目標とアプローチ</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07 / 26</a:t>
            </a:r>
          </a:p>
        </p:txBody>
      </p:sp>
      <p:sp>
        <p:nvSpPr>
          <p:cNvPr id="5" name="Rectangle 4"/>
          <p:cNvSpPr/>
          <p:nvPr/>
        </p:nvSpPr>
        <p:spPr>
          <a:xfrm>
            <a:off x="868680" y="2103120"/>
            <a:ext cx="16550640" cy="1234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03120"/>
            <a:ext cx="54864" cy="12344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231136"/>
            <a:ext cx="16148304" cy="978408"/>
          </a:xfrm>
          <a:prstGeom prst="rect">
            <a:avLst/>
          </a:prstGeom>
          <a:noFill/>
        </p:spPr>
        <p:txBody>
          <a:bodyPr wrap="square" lIns="73152" rIns="73152" tIns="36576" bIns="36576">
            <a:spAutoFit/>
          </a:bodyPr>
          <a:lstStyle/>
          <a:p>
            <a:pPr>
              <a:lnSpc>
                <a:spcPct val="115000"/>
              </a:lnSpc>
              <a:spcAft>
                <a:spcPts val="700"/>
              </a:spcAft>
              <a:defRPr sz="3000" b="0">
                <a:solidFill>
                  <a:srgbClr val="17353B"/>
                </a:solidFill>
                <a:latin typeface="Noto Sans CJK JP"/>
              </a:defRPr>
            </a:pPr>
            <a:r>
              <a:t>〇目指す姿　一人ひとりが知識・経験を活かし主体的にプロジェクトを推進するOneチーム</a:t>
            </a:r>
          </a:p>
        </p:txBody>
      </p:sp>
      <p:sp>
        <p:nvSpPr>
          <p:cNvPr id="8" name="Rectangle 7"/>
          <p:cNvSpPr/>
          <p:nvPr/>
        </p:nvSpPr>
        <p:spPr>
          <a:xfrm>
            <a:off x="868680" y="3611880"/>
            <a:ext cx="1655064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611880"/>
            <a:ext cx="54864" cy="3474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739896"/>
            <a:ext cx="16148304" cy="3218687"/>
          </a:xfrm>
          <a:prstGeom prst="rect">
            <a:avLst/>
          </a:prstGeom>
          <a:noFill/>
        </p:spPr>
        <p:txBody>
          <a:bodyPr wrap="square" lIns="73152" rIns="73152" tIns="36576" bIns="36576">
            <a:spAutoFit/>
          </a:bodyPr>
          <a:lstStyle/>
          <a:p>
            <a:pPr>
              <a:lnSpc>
                <a:spcPct val="115000"/>
              </a:lnSpc>
              <a:spcAft>
                <a:spcPts val="700"/>
              </a:spcAft>
              <a:defRPr sz="2100" b="0">
                <a:solidFill>
                  <a:srgbClr val="17353B"/>
                </a:solidFill>
                <a:latin typeface="Noto Sans CJK JP"/>
              </a:defRPr>
            </a:pPr>
            <a:r>
              <a:t>〇アプローチ</a:t>
            </a:r>
          </a:p>
          <a:p>
            <a:pPr>
              <a:lnSpc>
                <a:spcPct val="115000"/>
              </a:lnSpc>
              <a:spcAft>
                <a:spcPts val="700"/>
              </a:spcAft>
              <a:defRPr sz="2100" b="0">
                <a:solidFill>
                  <a:srgbClr val="17353B"/>
                </a:solidFill>
                <a:latin typeface="Noto Sans CJK JP"/>
              </a:defRPr>
            </a:pPr>
            <a:r>
              <a:t>①運営体制　少人数での推進　→　7人全員で一つのプロジェクトを推進。</a:t>
            </a:r>
          </a:p>
          <a:p>
            <a:pPr>
              <a:lnSpc>
                <a:spcPct val="115000"/>
              </a:lnSpc>
              <a:spcAft>
                <a:spcPts val="700"/>
              </a:spcAft>
              <a:defRPr sz="2100" b="0">
                <a:solidFill>
                  <a:srgbClr val="17353B"/>
                </a:solidFill>
                <a:latin typeface="Noto Sans CJK JP"/>
              </a:defRPr>
            </a:pPr>
            <a:r>
              <a:t>②活動内容　今回はゼロカーボン大作戦に注力。</a:t>
            </a:r>
          </a:p>
          <a:p>
            <a:pPr>
              <a:lnSpc>
                <a:spcPct val="115000"/>
              </a:lnSpc>
              <a:spcAft>
                <a:spcPts val="700"/>
              </a:spcAft>
              <a:defRPr sz="2100" b="0">
                <a:solidFill>
                  <a:srgbClr val="17353B"/>
                </a:solidFill>
                <a:latin typeface="Noto Sans CJK JP"/>
              </a:defRPr>
            </a:pPr>
            <a:r>
              <a:t> ライト層（特に若者）の参加を促すために以下二つの施策を考え、実行予定。</a:t>
            </a:r>
          </a:p>
          <a:p>
            <a:pPr>
              <a:lnSpc>
                <a:spcPct val="115000"/>
              </a:lnSpc>
              <a:spcAft>
                <a:spcPts val="700"/>
              </a:spcAft>
              <a:defRPr sz="2100" b="0">
                <a:solidFill>
                  <a:srgbClr val="17353B"/>
                </a:solidFill>
                <a:latin typeface="Noto Sans CJK JP"/>
              </a:defRPr>
            </a:pPr>
            <a:r>
              <a:t> ・会場の回遊促進施策</a:t>
            </a:r>
          </a:p>
          <a:p>
            <a:pPr>
              <a:lnSpc>
                <a:spcPct val="115000"/>
              </a:lnSpc>
              <a:spcAft>
                <a:spcPts val="700"/>
              </a:spcAft>
              <a:defRPr sz="2100" b="0">
                <a:solidFill>
                  <a:srgbClr val="17353B"/>
                </a:solidFill>
                <a:latin typeface="Noto Sans CJK JP"/>
              </a:defRPr>
            </a:pPr>
            <a:r>
              <a:t> ・広報施策</a:t>
            </a:r>
          </a:p>
        </p:txBody>
      </p:sp>
      <p:sp>
        <p:nvSpPr>
          <p:cNvPr id="11" name="Rectangle 10"/>
          <p:cNvSpPr/>
          <p:nvPr/>
        </p:nvSpPr>
        <p:spPr>
          <a:xfrm>
            <a:off x="868680" y="7360920"/>
            <a:ext cx="16550640" cy="2103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7360920"/>
            <a:ext cx="54864" cy="2103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7488936"/>
            <a:ext cx="16148304" cy="1847087"/>
          </a:xfrm>
          <a:prstGeom prst="rect">
            <a:avLst/>
          </a:prstGeom>
          <a:noFill/>
        </p:spPr>
        <p:txBody>
          <a:bodyPr wrap="square" lIns="73152" rIns="73152" tIns="36576" bIns="36576">
            <a:spAutoFit/>
          </a:bodyPr>
          <a:lstStyle/>
          <a:p>
            <a:pPr>
              <a:lnSpc>
                <a:spcPct val="115000"/>
              </a:lnSpc>
              <a:spcAft>
                <a:spcPts val="700"/>
              </a:spcAft>
              <a:defRPr sz="2600" b="0">
                <a:solidFill>
                  <a:srgbClr val="17353B"/>
                </a:solidFill>
                <a:latin typeface="Noto Sans CJK JP"/>
              </a:defRPr>
            </a:pPr>
            <a:r>
              <a:t>若年層への教育は「将来の問題解決者を育てる」ためのもの。その教育は、今主体的に消費活動を行っている世代が、今の問題解決者となって動くことで効果を発揮する。学生（同世代）を起点に大人世代へも響くコンテンツづくりを目指す。</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アンケート調査</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08 / 26</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アンケート調査</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09 / 26</a:t>
            </a:r>
          </a:p>
        </p:txBody>
      </p:sp>
      <p:sp>
        <p:nvSpPr>
          <p:cNvPr id="5" name="TextBox 4"/>
          <p:cNvSpPr txBox="1"/>
          <p:nvPr/>
        </p:nvSpPr>
        <p:spPr>
          <a:xfrm>
            <a:off x="868680" y="2011680"/>
            <a:ext cx="16459200" cy="731520"/>
          </a:xfrm>
          <a:prstGeom prst="rect">
            <a:avLst/>
          </a:prstGeom>
          <a:noFill/>
        </p:spPr>
        <p:txBody>
          <a:bodyPr wrap="square" lIns="73152" rIns="73152" tIns="36576" bIns="36576">
            <a:spAutoFit/>
          </a:bodyPr>
          <a:lstStyle/>
          <a:p>
            <a:pPr>
              <a:lnSpc>
                <a:spcPct val="115000"/>
              </a:lnSpc>
              <a:spcAft>
                <a:spcPts val="700"/>
              </a:spcAft>
              <a:defRPr sz="3300" b="1">
                <a:solidFill>
                  <a:srgbClr val="167568"/>
                </a:solidFill>
                <a:latin typeface="Noto Sans CJK JP"/>
              </a:defRPr>
            </a:pPr>
            <a:r>
              <a:t>〇LINEアプリ「ecoチャレンジみやぎ」内でアンケートを実施</a:t>
            </a:r>
          </a:p>
        </p:txBody>
      </p:sp>
      <p:sp>
        <p:nvSpPr>
          <p:cNvPr id="6" name="Rectangle 5"/>
          <p:cNvSpPr/>
          <p:nvPr/>
        </p:nvSpPr>
        <p:spPr>
          <a:xfrm>
            <a:off x="868680" y="3108960"/>
            <a:ext cx="8046720" cy="5760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68680" y="3108960"/>
            <a:ext cx="54864" cy="5760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236976"/>
            <a:ext cx="7644384" cy="5504688"/>
          </a:xfrm>
          <a:prstGeom prst="rect">
            <a:avLst/>
          </a:prstGeom>
          <a:noFill/>
        </p:spPr>
        <p:txBody>
          <a:bodyPr wrap="square" lIns="73152" rIns="73152" tIns="36576" bIns="36576">
            <a:spAutoFit/>
          </a:bodyPr>
          <a:lstStyle/>
          <a:p>
            <a:pPr>
              <a:lnSpc>
                <a:spcPct val="115000"/>
              </a:lnSpc>
              <a:spcAft>
                <a:spcPts val="700"/>
              </a:spcAft>
              <a:defRPr sz="3500" b="0">
                <a:solidFill>
                  <a:srgbClr val="17353B"/>
                </a:solidFill>
                <a:latin typeface="Noto Sans CJK JP"/>
              </a:defRPr>
            </a:pPr>
            <a:r>
              <a:t>対象</a:t>
            </a:r>
          </a:p>
          <a:p>
            <a:pPr>
              <a:lnSpc>
                <a:spcPct val="115000"/>
              </a:lnSpc>
              <a:spcAft>
                <a:spcPts val="700"/>
              </a:spcAft>
              <a:defRPr sz="3500" b="0">
                <a:solidFill>
                  <a:srgbClr val="17353B"/>
                </a:solidFill>
                <a:latin typeface="Noto Sans CJK JP"/>
              </a:defRPr>
            </a:pPr>
            <a:r>
              <a:t>・2つの大学での講義でアプリのお友達登録を行った学生</a:t>
            </a:r>
          </a:p>
          <a:p>
            <a:pPr>
              <a:lnSpc>
                <a:spcPct val="115000"/>
              </a:lnSpc>
              <a:spcAft>
                <a:spcPts val="700"/>
              </a:spcAft>
              <a:defRPr sz="3500" b="0">
                <a:solidFill>
                  <a:srgbClr val="17353B"/>
                </a:solidFill>
                <a:latin typeface="Noto Sans CJK JP"/>
              </a:defRPr>
            </a:pPr>
            <a:r>
              <a:t>・既に登録済みの県民の方</a:t>
            </a:r>
          </a:p>
        </p:txBody>
      </p:sp>
      <p:sp>
        <p:nvSpPr>
          <p:cNvPr id="9" name="Rectangle 8"/>
          <p:cNvSpPr/>
          <p:nvPr/>
        </p:nvSpPr>
        <p:spPr>
          <a:xfrm>
            <a:off x="9281160" y="3108960"/>
            <a:ext cx="8138160" cy="5760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281160" y="3108960"/>
            <a:ext cx="54864" cy="5760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482328" y="3236976"/>
            <a:ext cx="7735824" cy="5504688"/>
          </a:xfrm>
          <a:prstGeom prst="rect">
            <a:avLst/>
          </a:prstGeom>
          <a:noFill/>
        </p:spPr>
        <p:txBody>
          <a:bodyPr wrap="square" lIns="73152" rIns="73152" tIns="36576" bIns="36576">
            <a:spAutoFit/>
          </a:bodyPr>
          <a:lstStyle/>
          <a:p>
            <a:pPr>
              <a:lnSpc>
                <a:spcPct val="115000"/>
              </a:lnSpc>
              <a:spcAft>
                <a:spcPts val="700"/>
              </a:spcAft>
              <a:defRPr sz="2900" b="0">
                <a:solidFill>
                  <a:srgbClr val="17353B"/>
                </a:solidFill>
                <a:latin typeface="Noto Sans CJK JP"/>
              </a:defRPr>
            </a:pPr>
            <a:r>
              <a:t>調査内容</a:t>
            </a:r>
          </a:p>
          <a:p>
            <a:pPr>
              <a:lnSpc>
                <a:spcPct val="115000"/>
              </a:lnSpc>
              <a:spcAft>
                <a:spcPts val="700"/>
              </a:spcAft>
              <a:defRPr sz="2900" b="0">
                <a:solidFill>
                  <a:srgbClr val="17353B"/>
                </a:solidFill>
                <a:latin typeface="Noto Sans CJK JP"/>
              </a:defRPr>
            </a:pPr>
            <a:r>
              <a:t>・県民の方の環境配慮行動の実施状況、感じる心理的ハードル</a:t>
            </a:r>
          </a:p>
          <a:p>
            <a:pPr>
              <a:lnSpc>
                <a:spcPct val="115000"/>
              </a:lnSpc>
              <a:spcAft>
                <a:spcPts val="700"/>
              </a:spcAft>
              <a:defRPr sz="2900" b="0">
                <a:solidFill>
                  <a:srgbClr val="17353B"/>
                </a:solidFill>
                <a:latin typeface="Noto Sans CJK JP"/>
              </a:defRPr>
            </a:pPr>
            <a:r>
              <a:t>・学生と他の世代のニーズの違い</a:t>
            </a:r>
          </a:p>
          <a:p>
            <a:pPr>
              <a:lnSpc>
                <a:spcPct val="115000"/>
              </a:lnSpc>
              <a:spcAft>
                <a:spcPts val="700"/>
              </a:spcAft>
              <a:defRPr sz="2900" b="0">
                <a:solidFill>
                  <a:srgbClr val="17353B"/>
                </a:solidFill>
                <a:latin typeface="Noto Sans CJK JP"/>
              </a:defRPr>
            </a:pPr>
            <a:r>
              <a:t>　→結果を基に施策の工夫を行う予定。また、可能であれば、イベント出展予定の企業に</a:t>
            </a:r>
          </a:p>
          <a:p>
            <a:pPr>
              <a:lnSpc>
                <a:spcPct val="115000"/>
              </a:lnSpc>
              <a:spcAft>
                <a:spcPts val="700"/>
              </a:spcAft>
              <a:defRPr sz="2900" b="0">
                <a:solidFill>
                  <a:srgbClr val="17353B"/>
                </a:solidFill>
                <a:latin typeface="Noto Sans CJK JP"/>
              </a:defRPr>
            </a:pPr>
            <a:r>
              <a:t>　　情報を共有し、イベント全体がよりニーズに合ったものとなるよう工夫したい。</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アンケート調査</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10 / 26</a:t>
            </a:r>
          </a:p>
        </p:txBody>
      </p:sp>
      <p:sp>
        <p:nvSpPr>
          <p:cNvPr id="5" name="Rectangle 4"/>
          <p:cNvSpPr/>
          <p:nvPr/>
        </p:nvSpPr>
        <p:spPr>
          <a:xfrm>
            <a:off x="868680" y="2011680"/>
            <a:ext cx="16550640" cy="1143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011680"/>
            <a:ext cx="54864" cy="11430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139696"/>
            <a:ext cx="16148304" cy="886968"/>
          </a:xfrm>
          <a:prstGeom prst="rect">
            <a:avLst/>
          </a:prstGeom>
          <a:noFill/>
        </p:spPr>
        <p:txBody>
          <a:bodyPr wrap="square" lIns="73152" rIns="73152" tIns="36576" bIns="36576">
            <a:spAutoFit/>
          </a:bodyPr>
          <a:lstStyle/>
          <a:p>
            <a:pPr>
              <a:lnSpc>
                <a:spcPct val="115000"/>
              </a:lnSpc>
              <a:spcAft>
                <a:spcPts val="700"/>
              </a:spcAft>
              <a:defRPr sz="2600" b="0">
                <a:solidFill>
                  <a:srgbClr val="17353B"/>
                </a:solidFill>
                <a:latin typeface="Noto Sans CJK JP"/>
              </a:defRPr>
            </a:pPr>
            <a:r>
              <a:t>☆企画次第で参加を検討する層には、特典・短時間・気軽さが企画づくりの手がかりとなる</a:t>
            </a:r>
          </a:p>
        </p:txBody>
      </p:sp>
      <p:sp>
        <p:nvSpPr>
          <p:cNvPr id="8" name="Rectangle 7"/>
          <p:cNvSpPr/>
          <p:nvPr/>
        </p:nvSpPr>
        <p:spPr>
          <a:xfrm>
            <a:off x="868680" y="3474720"/>
            <a:ext cx="7132320" cy="5897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3474720"/>
            <a:ext cx="54864" cy="58978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602736"/>
            <a:ext cx="6729983" cy="5641848"/>
          </a:xfrm>
          <a:prstGeom prst="rect">
            <a:avLst/>
          </a:prstGeom>
          <a:noFill/>
        </p:spPr>
        <p:txBody>
          <a:bodyPr wrap="square" lIns="73152" rIns="73152" tIns="36576" bIns="36576">
            <a:spAutoFit/>
          </a:bodyPr>
          <a:lstStyle/>
          <a:p>
            <a:pPr>
              <a:lnSpc>
                <a:spcPct val="115000"/>
              </a:lnSpc>
              <a:spcAft>
                <a:spcPts val="700"/>
              </a:spcAft>
              <a:defRPr sz="3000" b="0">
                <a:solidFill>
                  <a:srgbClr val="17353B"/>
                </a:solidFill>
                <a:latin typeface="Noto Sans CJK JP"/>
              </a:defRPr>
            </a:pPr>
            <a:r>
              <a:t>① 使用したデータ</a:t>
            </a:r>
          </a:p>
          <a:p>
            <a:pPr>
              <a:lnSpc>
                <a:spcPct val="115000"/>
              </a:lnSpc>
              <a:spcAft>
                <a:spcPts val="700"/>
              </a:spcAft>
              <a:defRPr sz="3000" b="0">
                <a:solidFill>
                  <a:srgbClr val="17353B"/>
                </a:solidFill>
                <a:latin typeface="Noto Sans CJK JP"/>
              </a:defRPr>
            </a:pPr>
            <a:r>
              <a:t>・アンバサダーアンケート（2026年10月16日時点、有効回答674人）</a:t>
            </a:r>
          </a:p>
          <a:p>
            <a:pPr>
              <a:lnSpc>
                <a:spcPct val="115000"/>
              </a:lnSpc>
              <a:spcAft>
                <a:spcPts val="700"/>
              </a:spcAft>
              <a:defRPr sz="3000" b="0">
                <a:solidFill>
                  <a:srgbClr val="17353B"/>
                </a:solidFill>
                <a:latin typeface="Noto Sans CJK JP"/>
              </a:defRPr>
            </a:pPr>
            <a:r>
              <a:t>・全設問のうち、参加意向・参加インセンティブ・情報源・年代・職業を抽出</a:t>
            </a:r>
          </a:p>
          <a:p>
            <a:pPr>
              <a:lnSpc>
                <a:spcPct val="115000"/>
              </a:lnSpc>
              <a:spcAft>
                <a:spcPts val="700"/>
              </a:spcAft>
              <a:defRPr sz="3000" b="0">
                <a:solidFill>
                  <a:srgbClr val="17353B"/>
                </a:solidFill>
                <a:latin typeface="Noto Sans CJK JP"/>
              </a:defRPr>
            </a:pPr>
            <a:r>
              <a:t>・「内容によっては参加したい」472人（70.0%）を潜在層と定義して分析</a:t>
            </a:r>
          </a:p>
        </p:txBody>
      </p:sp>
      <p:sp>
        <p:nvSpPr>
          <p:cNvPr id="11" name="Rectangle 10"/>
          <p:cNvSpPr/>
          <p:nvPr/>
        </p:nvSpPr>
        <p:spPr>
          <a:xfrm>
            <a:off x="8321040" y="3474720"/>
            <a:ext cx="9098280" cy="5897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321040" y="3474720"/>
            <a:ext cx="54864" cy="58978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22208" y="3602736"/>
            <a:ext cx="8695944" cy="5641848"/>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② 分かったこと〈潜在層・複数回答〉</a:t>
            </a:r>
          </a:p>
          <a:p>
            <a:pPr>
              <a:lnSpc>
                <a:spcPct val="115000"/>
              </a:lnSpc>
              <a:spcAft>
                <a:spcPts val="700"/>
              </a:spcAft>
              <a:defRPr sz="3200" b="0">
                <a:solidFill>
                  <a:srgbClr val="17353B"/>
                </a:solidFill>
                <a:latin typeface="Noto Sans CJK JP"/>
              </a:defRPr>
            </a:pPr>
            <a:r>
              <a:t>・企画：特典60.6%、短時間37.5%、飲食37.3%、1人でも楽しめる34.7%</a:t>
            </a:r>
          </a:p>
          <a:p>
            <a:pPr>
              <a:lnSpc>
                <a:spcPct val="115000"/>
              </a:lnSpc>
              <a:spcAft>
                <a:spcPts val="700"/>
              </a:spcAft>
              <a:defRPr sz="3200" b="0">
                <a:solidFill>
                  <a:srgbClr val="17353B"/>
                </a:solidFill>
                <a:latin typeface="Noto Sans CJK JP"/>
              </a:defRPr>
            </a:pPr>
            <a:r>
              <a:t>・情報源：自治体の広報誌・HP39.8%、テレビ・雑誌35.0%、LINE公式アカウント28.2%</a:t>
            </a:r>
          </a:p>
          <a:p>
            <a:pPr>
              <a:lnSpc>
                <a:spcPct val="115000"/>
              </a:lnSpc>
              <a:spcAft>
                <a:spcPts val="700"/>
              </a:spcAft>
              <a:defRPr sz="3200" b="0">
                <a:solidFill>
                  <a:srgbClr val="17353B"/>
                </a:solidFill>
                <a:latin typeface="Noto Sans CJK JP"/>
              </a:defRPr>
            </a:pPr>
            <a:r>
              <a:t>・学生は全体9人、潜在層4人。学生・非学生の比較も行ったが、学生の傾向を断定するには少ない</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アンケート調査</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11 / 26</a:t>
            </a:r>
          </a:p>
        </p:txBody>
      </p:sp>
      <p:sp>
        <p:nvSpPr>
          <p:cNvPr id="5" name="Rectangle 4"/>
          <p:cNvSpPr/>
          <p:nvPr/>
        </p:nvSpPr>
        <p:spPr>
          <a:xfrm>
            <a:off x="868680" y="2286000"/>
            <a:ext cx="804672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286000"/>
            <a:ext cx="54864" cy="68580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414016"/>
            <a:ext cx="7644384" cy="6601968"/>
          </a:xfrm>
          <a:prstGeom prst="rect">
            <a:avLst/>
          </a:prstGeom>
          <a:noFill/>
        </p:spPr>
        <p:txBody>
          <a:bodyPr wrap="square" lIns="73152" rIns="73152" tIns="36576" bIns="36576">
            <a:spAutoFit/>
          </a:bodyPr>
          <a:lstStyle/>
          <a:p>
            <a:pPr>
              <a:lnSpc>
                <a:spcPct val="115000"/>
              </a:lnSpc>
              <a:spcAft>
                <a:spcPts val="700"/>
              </a:spcAft>
              <a:defRPr sz="3400" b="0">
                <a:solidFill>
                  <a:srgbClr val="17353B"/>
                </a:solidFill>
                <a:latin typeface="Noto Sans CJK JP"/>
              </a:defRPr>
            </a:pPr>
            <a:r>
              <a:t>③ データの有効性と限界</a:t>
            </a:r>
          </a:p>
          <a:p>
            <a:pPr>
              <a:lnSpc>
                <a:spcPct val="115000"/>
              </a:lnSpc>
              <a:spcAft>
                <a:spcPts val="700"/>
              </a:spcAft>
              <a:defRPr sz="3400" b="0">
                <a:solidFill>
                  <a:srgbClr val="17353B"/>
                </a:solidFill>
                <a:latin typeface="Noto Sans CJK JP"/>
              </a:defRPr>
            </a:pPr>
            <a:r>
              <a:t>・使えること：今回の回答者、主に大人世代のニーズを把握し、施策の具体化に活用</a:t>
            </a:r>
          </a:p>
          <a:p>
            <a:pPr>
              <a:lnSpc>
                <a:spcPct val="115000"/>
              </a:lnSpc>
              <a:spcAft>
                <a:spcPts val="700"/>
              </a:spcAft>
              <a:defRPr sz="3400" b="0">
                <a:solidFill>
                  <a:srgbClr val="17353B"/>
                </a:solidFill>
                <a:latin typeface="Noto Sans CJK JP"/>
              </a:defRPr>
            </a:pPr>
            <a:r>
              <a:t>・限界：県民全体や若者の代表性、実際の集客効果までは確認できない</a:t>
            </a:r>
          </a:p>
          <a:p>
            <a:pPr>
              <a:lnSpc>
                <a:spcPct val="115000"/>
              </a:lnSpc>
              <a:spcAft>
                <a:spcPts val="700"/>
              </a:spcAft>
              <a:defRPr sz="3400" b="0">
                <a:solidFill>
                  <a:srgbClr val="17353B"/>
                </a:solidFill>
                <a:latin typeface="Noto Sans CJK JP"/>
              </a:defRPr>
            </a:pPr>
            <a:r>
              <a:t>・「最大3つ」の設問に4つ以上の回答があるため、選択率の解釈には注意が必要</a:t>
            </a:r>
          </a:p>
        </p:txBody>
      </p:sp>
      <p:sp>
        <p:nvSpPr>
          <p:cNvPr id="8" name="Rectangle 7"/>
          <p:cNvSpPr/>
          <p:nvPr/>
        </p:nvSpPr>
        <p:spPr>
          <a:xfrm>
            <a:off x="9281160" y="2286000"/>
            <a:ext cx="813816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1160" y="2286000"/>
            <a:ext cx="54864" cy="68580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82328" y="2414016"/>
            <a:ext cx="7735824" cy="6601968"/>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④ 活動・出展企業への活用案</a:t>
            </a:r>
          </a:p>
          <a:p>
            <a:pPr>
              <a:lnSpc>
                <a:spcPct val="115000"/>
              </a:lnSpc>
              <a:spcAft>
                <a:spcPts val="700"/>
              </a:spcAft>
              <a:defRPr sz="3200" b="0">
                <a:solidFill>
                  <a:srgbClr val="17353B"/>
                </a:solidFill>
                <a:latin typeface="Noto Sans CJK JP"/>
              </a:defRPr>
            </a:pPr>
            <a:r>
              <a:t>・回遊施策：従来のタイプの他に、短時間・個人参加で楽しめる体験＋達成特典の組み合わせを用意</a:t>
            </a:r>
          </a:p>
          <a:p>
            <a:pPr>
              <a:lnSpc>
                <a:spcPct val="115000"/>
              </a:lnSpc>
              <a:spcAft>
                <a:spcPts val="700"/>
              </a:spcAft>
              <a:defRPr sz="3200" b="0">
                <a:solidFill>
                  <a:srgbClr val="17353B"/>
                </a:solidFill>
                <a:latin typeface="Noto Sans CJK JP"/>
              </a:defRPr>
            </a:pPr>
            <a:r>
              <a:t>・広報施策：自治体媒体・LINE等を候補に、体験内容や所要時間を具体的に伝える</a:t>
            </a:r>
          </a:p>
          <a:p>
            <a:pPr>
              <a:lnSpc>
                <a:spcPct val="115000"/>
              </a:lnSpc>
              <a:spcAft>
                <a:spcPts val="700"/>
              </a:spcAft>
              <a:defRPr sz="3200" b="0">
                <a:solidFill>
                  <a:srgbClr val="17353B"/>
                </a:solidFill>
                <a:latin typeface="Noto Sans CJK JP"/>
              </a:defRPr>
            </a:pPr>
            <a:r>
              <a:t>・企業共有：集計結果を共有し、参加しやすいブースづくりを提案。実施後に回遊状況・来場経路を確認する</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graphicFrame>
        <p:nvGraphicFramePr>
          <p:cNvPr name="Table 14" id="14"/>
          <p:cNvGraphicFramePr>
            <a:graphicFrameLocks noGrp="true"/>
          </p:cNvGraphicFramePr>
          <p:nvPr/>
        </p:nvGraphicFramePr>
        <p:xfrm>
          <a:off x="731520" y="2286000"/>
          <a:ext cx="16824957" cy="7040880"/>
        </p:xfrm>
        <a:graphic>
          <a:graphicData uri="http://schemas.openxmlformats.org/drawingml/2006/table">
            <a:tbl>
              <a:tblPr/>
              <a:tblGrid>
                <a:gridCol w="2398869"/>
                <a:gridCol w="2724820"/>
                <a:gridCol w="2724820"/>
                <a:gridCol w="2994091"/>
                <a:gridCol w="2724820"/>
                <a:gridCol w="3257537"/>
              </a:tblGrid>
              <a:tr h="844410">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Month</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11月</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12月</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2月</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10月</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b="true">
                          <a:solidFill>
                            <a:srgbClr val="000000"/>
                          </a:solidFill>
                          <a:latin typeface="Source Han Sans JP Bold"/>
                          <a:ea typeface="Source Han Sans JP Bold"/>
                          <a:cs typeface="Source Han Sans JP Bold"/>
                          <a:sym typeface="Source Han Sans JP Bold"/>
                        </a:rPr>
                        <a:t>1月</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r>
              <a:tr h="977958">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全体の流れ</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コンテンツ作成</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コンテンツ完成</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成果発表会の準備</a:t>
                      </a:r>
                      <a:endParaRPr lang="en-US" sz="1100"/>
                    </a:p>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（結果の分析）</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アンケート結果の</a:t>
                      </a:r>
                      <a:endParaRPr lang="en-US" sz="1100"/>
                    </a:p>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分析</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最終調整</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2128497">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回遊促進</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・巨大パネル用</a:t>
                      </a:r>
                      <a:endParaRPr lang="en-US" sz="1100"/>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動画作成</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・QRコード利用型</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コンテンツ作成</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・キーワードラリー</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内容作成</a:t>
                      </a:r>
                    </a:p>
                    <a:p>
                      <a:pPr algn="l">
                        <a:lnSpc>
                          <a:spcPts val="1800"/>
                        </a:lnSpc>
                        <a:defRPr sz="2400">
                          <a:solidFill>
                            <a:srgbClr val="17353B"/>
                          </a:solidFill>
                          <a:latin typeface="Noto Sans CJK JP"/>
                        </a:defRPr>
                      </a:pP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・ブースの分類＆</a:t>
                      </a:r>
                      <a:endParaRPr lang="en-US" sz="1100"/>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配置決め</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・会場装飾の準備</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・11月の続き</a:t>
                      </a:r>
                    </a:p>
                    <a:p>
                      <a:pPr algn="l">
                        <a:lnSpc>
                          <a:spcPts val="1800"/>
                        </a:lnSpc>
                        <a:defRPr sz="2400">
                          <a:solidFill>
                            <a:srgbClr val="17353B"/>
                          </a:solidFill>
                          <a:latin typeface="Noto Sans CJK JP"/>
                        </a:defRPr>
                      </a:pP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施策の効果分析</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施策</a:t>
                      </a:r>
                      <a:r>
                        <a:rPr lang="en-US" sz="1800">
                          <a:solidFill>
                            <a:srgbClr val="000000"/>
                          </a:solidFill>
                          <a:latin typeface="Source Han Sans JP"/>
                          <a:ea typeface="Source Han Sans JP"/>
                          <a:cs typeface="Source Han Sans JP"/>
                          <a:sym typeface="Source Han Sans JP"/>
                        </a:rPr>
                        <a:t>の具体化</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just">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コンテンツの</a:t>
                      </a:r>
                      <a:endParaRPr lang="en-US" sz="1100"/>
                    </a:p>
                    <a:p>
                      <a:pPr algn="just">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テストプレイ＆修正</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r h="1863709">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広報</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E1EFEB"/>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・クイズ投稿</a:t>
                      </a:r>
                      <a:endParaRPr lang="en-US" sz="1100"/>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・県民アクション</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Instagram投稿募集</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・クイズ投稿</a:t>
                      </a:r>
                      <a:endParaRPr lang="en-US" sz="1100"/>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・昨年度の</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開催風景投稿</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・県民アクション募集</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ctr">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施策の効果分析</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・クイズ投稿</a:t>
                      </a:r>
                      <a:endParaRPr lang="en-US" sz="1100"/>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c>
                  <a:txBody>
                    <a:bodyPr anchor="t" rtlCol="false"/>
                    <a:lstStyle/>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・クイズ投稿</a:t>
                      </a:r>
                      <a:endParaRPr lang="en-US" sz="1100"/>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・イベントの宣伝</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・県民アクション</a:t>
                      </a:r>
                    </a:p>
                    <a:p>
                      <a:pPr algn="l">
                        <a:lnSpc>
                          <a:spcPts val="1800"/>
                        </a:lnSpc>
                        <a:defRPr sz="2400">
                          <a:solidFill>
                            <a:srgbClr val="17353B"/>
                          </a:solidFill>
                          <a:latin typeface="Noto Sans CJK JP"/>
                        </a:defRPr>
                      </a:pPr>
                      <a:r>
                        <a:rPr lang="en-US" sz="1800">
                          <a:solidFill>
                            <a:srgbClr val="000000"/>
                          </a:solidFill>
                          <a:latin typeface="Source Han Sans JP"/>
                          <a:ea typeface="Source Han Sans JP"/>
                          <a:cs typeface="Source Han Sans JP"/>
                          <a:sym typeface="Source Han Sans JP"/>
                        </a:rPr>
                        <a:t>　審査＆動画編集</a:t>
                      </a:r>
                    </a:p>
                  </a:txBody>
                  <a:tcPr marL="109728" marR="109728" marT="0" marB="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FFFFFF"/>
                    </a:solidFill>
                  </a:tcPr>
                </a:tc>
              </a:tr>
            </a:tbl>
          </a:graphicData>
        </a:graphic>
      </p:graphicFrame>
      <p:sp>
        <p:nvSpPr>
          <p:cNvPr id="15" name="TextBox 14"/>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活動のスケジュール</a:t>
            </a:r>
          </a:p>
        </p:txBody>
      </p:sp>
      <p:sp>
        <p:nvSpPr>
          <p:cNvPr id="16" name="Rectangle 15"/>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12 / 26</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回遊促進施策</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13 / 26</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name="Freeform 14" id="14"/>
          <p:cNvSpPr/>
          <p:nvPr/>
        </p:nvSpPr>
        <p:spPr>
          <a:xfrm flipH="false" flipV="false" rot="0">
            <a:off x="868680" y="2743200"/>
            <a:ext cx="7040880" cy="5148072"/>
          </a:xfrm>
          <a:custGeom>
            <a:avLst/>
            <a:gdLst/>
            <a:ahLst/>
            <a:cxnLst/>
            <a:rect r="r" b="b" t="t" l="l"/>
            <a:pathLst>
              <a:path h="4601857" w="6293138">
                <a:moveTo>
                  <a:pt x="0" y="0"/>
                </a:moveTo>
                <a:lnTo>
                  <a:pt x="6293138" y="0"/>
                </a:lnTo>
                <a:lnTo>
                  <a:pt x="6293138" y="4601857"/>
                </a:lnTo>
                <a:lnTo>
                  <a:pt x="0" y="4601857"/>
                </a:lnTo>
                <a:lnTo>
                  <a:pt x="0" y="0"/>
                </a:lnTo>
                <a:close/>
              </a:path>
            </a:pathLst>
          </a:custGeom>
          <a:blipFill>
            <a:blip r:embed="rId2"/>
            <a:stretch>
              <a:fillRect l="-36915" t="-23097" r="-32101" b="-37521"/>
            </a:stretch>
          </a:blipFill>
        </p:spPr>
        <p:txBody>
          <a:bodyPr/>
          <a:p/>
        </p:txBody>
      </p:sp>
      <p:sp>
        <p:nvSpPr>
          <p:cNvPr id="15" name="TextBox 14"/>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回遊施策（視覚的な誘導）について</a:t>
            </a:r>
          </a:p>
        </p:txBody>
      </p:sp>
      <p:sp>
        <p:nvSpPr>
          <p:cNvPr id="16" name="Rectangle 15"/>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14 / 26</a:t>
            </a:r>
          </a:p>
        </p:txBody>
      </p:sp>
      <p:sp>
        <p:nvSpPr>
          <p:cNvPr id="18" name="TextBox 17"/>
          <p:cNvSpPr txBox="1"/>
          <p:nvPr/>
        </p:nvSpPr>
        <p:spPr>
          <a:xfrm>
            <a:off x="868680" y="8138160"/>
            <a:ext cx="7132320" cy="731520"/>
          </a:xfrm>
          <a:prstGeom prst="rect">
            <a:avLst/>
          </a:prstGeom>
          <a:noFill/>
        </p:spPr>
        <p:txBody>
          <a:bodyPr wrap="square" lIns="73152" rIns="73152" tIns="36576" bIns="36576">
            <a:spAutoFit/>
          </a:bodyPr>
          <a:lstStyle/>
          <a:p>
            <a:pPr>
              <a:lnSpc>
                <a:spcPct val="115000"/>
              </a:lnSpc>
              <a:spcAft>
                <a:spcPts val="700"/>
              </a:spcAft>
              <a:defRPr sz="2200" b="0">
                <a:solidFill>
                  <a:srgbClr val="53676D"/>
                </a:solidFill>
                <a:latin typeface="Noto Sans CJK JP"/>
              </a:defRPr>
            </a:pPr>
            <a:r>
              <a:t>（昨年の会場を基にしたイメージ図）</a:t>
            </a:r>
          </a:p>
        </p:txBody>
      </p:sp>
      <p:sp>
        <p:nvSpPr>
          <p:cNvPr id="19" name="Rectangle 18"/>
          <p:cNvSpPr/>
          <p:nvPr/>
        </p:nvSpPr>
        <p:spPr>
          <a:xfrm>
            <a:off x="8321040" y="2194560"/>
            <a:ext cx="909828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321040" y="2194560"/>
            <a:ext cx="54864" cy="18288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22208" y="2322576"/>
            <a:ext cx="8695944" cy="1572768"/>
          </a:xfrm>
          <a:prstGeom prst="rect">
            <a:avLst/>
          </a:prstGeom>
          <a:noFill/>
        </p:spPr>
        <p:txBody>
          <a:bodyPr wrap="square" lIns="73152" rIns="73152" tIns="36576" bIns="36576">
            <a:spAutoFit/>
          </a:bodyPr>
          <a:lstStyle/>
          <a:p>
            <a:pPr>
              <a:lnSpc>
                <a:spcPct val="115000"/>
              </a:lnSpc>
              <a:spcAft>
                <a:spcPts val="700"/>
              </a:spcAft>
              <a:defRPr sz="2100" b="0">
                <a:solidFill>
                  <a:srgbClr val="17353B"/>
                </a:solidFill>
                <a:latin typeface="Noto Sans CJK JP"/>
              </a:defRPr>
            </a:pPr>
            <a:r>
              <a:t>目的：各ブースの大まかな内容が離れた場所からでも一目で分かるようにし、来場者の目的に応じて奥のブースまで回ってもらえるようにする</a:t>
            </a:r>
          </a:p>
        </p:txBody>
      </p:sp>
      <p:sp>
        <p:nvSpPr>
          <p:cNvPr id="22" name="Rectangle 21"/>
          <p:cNvSpPr/>
          <p:nvPr/>
        </p:nvSpPr>
        <p:spPr>
          <a:xfrm>
            <a:off x="8321040" y="4297680"/>
            <a:ext cx="9098280" cy="2468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321040" y="4297680"/>
            <a:ext cx="54864" cy="24688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522208" y="4425696"/>
            <a:ext cx="8695944" cy="2212848"/>
          </a:xfrm>
          <a:prstGeom prst="rect">
            <a:avLst/>
          </a:prstGeom>
          <a:noFill/>
        </p:spPr>
        <p:txBody>
          <a:bodyPr wrap="square" lIns="73152" rIns="73152" tIns="36576" bIns="36576">
            <a:spAutoFit/>
          </a:bodyPr>
          <a:lstStyle/>
          <a:p>
            <a:pPr>
              <a:lnSpc>
                <a:spcPct val="115000"/>
              </a:lnSpc>
              <a:spcAft>
                <a:spcPts val="700"/>
              </a:spcAft>
              <a:defRPr sz="2700" b="0">
                <a:solidFill>
                  <a:srgbClr val="17353B"/>
                </a:solidFill>
                <a:latin typeface="Noto Sans CJK JP"/>
              </a:defRPr>
            </a:pPr>
            <a:r>
              <a:t>実施内容：各ブースの内容・テーマに応じて色分けをする、背面のパネルの周囲にカラーテープを貼る、パネル上部に看板を設置、入り口付近に案内看板を設置</a:t>
            </a:r>
          </a:p>
        </p:txBody>
      </p:sp>
      <p:sp>
        <p:nvSpPr>
          <p:cNvPr id="25" name="Rectangle 24"/>
          <p:cNvSpPr/>
          <p:nvPr/>
        </p:nvSpPr>
        <p:spPr>
          <a:xfrm>
            <a:off x="8321040" y="7040880"/>
            <a:ext cx="9098280" cy="2423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21040" y="7040880"/>
            <a:ext cx="54864" cy="24231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8" y="7168896"/>
            <a:ext cx="8695944" cy="216712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時期：11月下旬　出展ブース・内容が決定</a:t>
            </a:r>
          </a:p>
          <a:p>
            <a:pPr>
              <a:lnSpc>
                <a:spcPct val="115000"/>
              </a:lnSpc>
              <a:spcAft>
                <a:spcPts val="700"/>
              </a:spcAft>
              <a:defRPr sz="2000" b="0">
                <a:solidFill>
                  <a:srgbClr val="17353B"/>
                </a:solidFill>
                <a:latin typeface="Noto Sans CJK JP"/>
              </a:defRPr>
            </a:pPr>
            <a:r>
              <a:t>12月～　ブースの分類・配置決め</a:t>
            </a:r>
          </a:p>
          <a:p>
            <a:pPr>
              <a:lnSpc>
                <a:spcPct val="115000"/>
              </a:lnSpc>
              <a:spcAft>
                <a:spcPts val="700"/>
              </a:spcAft>
              <a:defRPr sz="2000" b="0">
                <a:solidFill>
                  <a:srgbClr val="17353B"/>
                </a:solidFill>
                <a:latin typeface="Noto Sans CJK JP"/>
              </a:defRPr>
            </a:pPr>
            <a:r>
              <a:t>　　　　看板やテープ等の準備</a:t>
            </a:r>
          </a:p>
          <a:p>
            <a:pPr>
              <a:lnSpc>
                <a:spcPct val="115000"/>
              </a:lnSpc>
              <a:spcAft>
                <a:spcPts val="700"/>
              </a:spcAft>
              <a:defRPr sz="2000" b="0">
                <a:solidFill>
                  <a:srgbClr val="17353B"/>
                </a:solidFill>
                <a:latin typeface="Noto Sans CJK JP"/>
              </a:defRPr>
            </a:pPr>
            <a:r>
              <a:t>直前　設置</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5F8FA"/>
        </a:solidFill>
        <a:effectLst/>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導線とモール内宣伝(篠村)</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15 / 26</a:t>
            </a:r>
          </a:p>
        </p:txBody>
      </p:sp>
      <p:sp>
        <p:nvSpPr>
          <p:cNvPr id="5" name="Rectangle 4"/>
          <p:cNvSpPr/>
          <p:nvPr/>
        </p:nvSpPr>
        <p:spPr>
          <a:xfrm>
            <a:off x="868680" y="2194560"/>
            <a:ext cx="7955279"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94560"/>
            <a:ext cx="54864" cy="23774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22576"/>
            <a:ext cx="7552944" cy="212140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概要</a:t>
            </a:r>
          </a:p>
          <a:p>
            <a:pPr>
              <a:lnSpc>
                <a:spcPct val="115000"/>
              </a:lnSpc>
              <a:spcAft>
                <a:spcPts val="700"/>
              </a:spcAft>
              <a:defRPr sz="2000" b="0">
                <a:solidFill>
                  <a:srgbClr val="17353B"/>
                </a:solidFill>
                <a:latin typeface="Noto Sans CJK JP"/>
              </a:defRPr>
            </a:pPr>
            <a:r>
              <a:t>入口ゲートのそばに大きなモニターを</a:t>
            </a:r>
          </a:p>
          <a:p>
            <a:pPr>
              <a:lnSpc>
                <a:spcPct val="115000"/>
              </a:lnSpc>
              <a:spcAft>
                <a:spcPts val="700"/>
              </a:spcAft>
              <a:defRPr sz="2000" b="0">
                <a:solidFill>
                  <a:srgbClr val="17353B"/>
                </a:solidFill>
                <a:latin typeface="Noto Sans CJK JP"/>
              </a:defRPr>
            </a:pPr>
            <a:r>
              <a:t>設置。右の内容の動画を</a:t>
            </a:r>
          </a:p>
          <a:p>
            <a:pPr>
              <a:lnSpc>
                <a:spcPct val="115000"/>
              </a:lnSpc>
              <a:spcAft>
                <a:spcPts val="700"/>
              </a:spcAft>
              <a:defRPr sz="2000" b="0">
                <a:solidFill>
                  <a:srgbClr val="17353B"/>
                </a:solidFill>
                <a:latin typeface="Noto Sans CJK JP"/>
              </a:defRPr>
            </a:pPr>
            <a:r>
              <a:t>ループ再生する。</a:t>
            </a:r>
          </a:p>
        </p:txBody>
      </p:sp>
      <p:sp>
        <p:nvSpPr>
          <p:cNvPr id="8" name="Rectangle 7"/>
          <p:cNvSpPr/>
          <p:nvPr/>
        </p:nvSpPr>
        <p:spPr>
          <a:xfrm>
            <a:off x="868680" y="4846320"/>
            <a:ext cx="7955279" cy="3063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4846320"/>
            <a:ext cx="54864" cy="30632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4974336"/>
            <a:ext cx="7552944" cy="2807208"/>
          </a:xfrm>
          <a:prstGeom prst="rect">
            <a:avLst/>
          </a:prstGeom>
          <a:noFill/>
        </p:spPr>
        <p:txBody>
          <a:bodyPr wrap="square" lIns="73152" rIns="73152" tIns="36576" bIns="36576">
            <a:spAutoFit/>
          </a:bodyPr>
          <a:lstStyle/>
          <a:p>
            <a:pPr>
              <a:lnSpc>
                <a:spcPct val="115000"/>
              </a:lnSpc>
              <a:spcAft>
                <a:spcPts val="700"/>
              </a:spcAft>
              <a:defRPr sz="2400" b="0">
                <a:solidFill>
                  <a:srgbClr val="17353B"/>
                </a:solidFill>
                <a:latin typeface="Noto Sans CJK JP"/>
              </a:defRPr>
            </a:pPr>
            <a:r>
              <a:t>目的</a:t>
            </a:r>
          </a:p>
          <a:p>
            <a:pPr>
              <a:lnSpc>
                <a:spcPct val="115000"/>
              </a:lnSpc>
              <a:spcAft>
                <a:spcPts val="700"/>
              </a:spcAft>
              <a:defRPr sz="2400" b="0">
                <a:solidFill>
                  <a:srgbClr val="17353B"/>
                </a:solidFill>
                <a:latin typeface="Noto Sans CJK JP"/>
              </a:defRPr>
            </a:pPr>
            <a:r>
              <a:t>通りかかった人にどのようなイベントであるのかを知ってもらう。</a:t>
            </a:r>
          </a:p>
          <a:p>
            <a:pPr>
              <a:lnSpc>
                <a:spcPct val="115000"/>
              </a:lnSpc>
              <a:spcAft>
                <a:spcPts val="700"/>
              </a:spcAft>
              <a:defRPr sz="2400" b="0">
                <a:solidFill>
                  <a:srgbClr val="17353B"/>
                </a:solidFill>
                <a:latin typeface="Noto Sans CJK JP"/>
              </a:defRPr>
            </a:pPr>
            <a:r>
              <a:t>また、この動画が目に入ることで参加者のハードルを下げる。</a:t>
            </a:r>
          </a:p>
        </p:txBody>
      </p:sp>
      <p:sp>
        <p:nvSpPr>
          <p:cNvPr id="11" name="TextBox 10"/>
          <p:cNvSpPr txBox="1"/>
          <p:nvPr/>
        </p:nvSpPr>
        <p:spPr>
          <a:xfrm>
            <a:off x="914400" y="8229600"/>
            <a:ext cx="7772400" cy="1188720"/>
          </a:xfrm>
          <a:prstGeom prst="rect">
            <a:avLst/>
          </a:prstGeom>
          <a:noFill/>
        </p:spPr>
        <p:txBody>
          <a:bodyPr wrap="square" lIns="73152" rIns="73152" tIns="36576" bIns="36576">
            <a:spAutoFit/>
          </a:bodyPr>
          <a:lstStyle/>
          <a:p>
            <a:pPr>
              <a:lnSpc>
                <a:spcPct val="115000"/>
              </a:lnSpc>
              <a:spcAft>
                <a:spcPts val="700"/>
              </a:spcAft>
              <a:defRPr sz="2500" b="0">
                <a:solidFill>
                  <a:srgbClr val="53676D"/>
                </a:solidFill>
                <a:latin typeface="Noto Sans CJK JP"/>
              </a:defRPr>
            </a:pPr>
            <a:r>
              <a:t>※動画は作成段階です。11月中旬ごろに流れを作成。その後12月末ごろに完成を予定しています。</a:t>
            </a:r>
          </a:p>
        </p:txBody>
      </p:sp>
      <p:sp>
        <p:nvSpPr>
          <p:cNvPr id="12" name="Rectangle 11"/>
          <p:cNvSpPr/>
          <p:nvPr/>
        </p:nvSpPr>
        <p:spPr>
          <a:xfrm>
            <a:off x="9235440" y="219456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235440" y="219456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36608" y="2322576"/>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オープニング</a:t>
            </a:r>
          </a:p>
        </p:txBody>
      </p:sp>
      <p:sp>
        <p:nvSpPr>
          <p:cNvPr id="15" name="Rectangle 14"/>
          <p:cNvSpPr/>
          <p:nvPr/>
        </p:nvSpPr>
        <p:spPr>
          <a:xfrm>
            <a:off x="9235440" y="338328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235440" y="338328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36608" y="3511296"/>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今日できること・プログラム</a:t>
            </a:r>
          </a:p>
        </p:txBody>
      </p:sp>
      <p:sp>
        <p:nvSpPr>
          <p:cNvPr id="18" name="Rectangle 17"/>
          <p:cNvSpPr/>
          <p:nvPr/>
        </p:nvSpPr>
        <p:spPr>
          <a:xfrm>
            <a:off x="9235440" y="457200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235440" y="457200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6608" y="4700016"/>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ゼロカーボンとは？</a:t>
            </a:r>
          </a:p>
        </p:txBody>
      </p:sp>
      <p:sp>
        <p:nvSpPr>
          <p:cNvPr id="21" name="Rectangle 20"/>
          <p:cNvSpPr/>
          <p:nvPr/>
        </p:nvSpPr>
        <p:spPr>
          <a:xfrm>
            <a:off x="9235440" y="576072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235440" y="576072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36608" y="5888736"/>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みやぎゼロカーボンチャレンジ2050、</a:t>
            </a:r>
          </a:p>
          <a:p>
            <a:pPr>
              <a:lnSpc>
                <a:spcPct val="115000"/>
              </a:lnSpc>
              <a:spcAft>
                <a:spcPts val="700"/>
              </a:spcAft>
              <a:defRPr sz="2000" b="0">
                <a:solidFill>
                  <a:srgbClr val="17353B"/>
                </a:solidFill>
                <a:latin typeface="Noto Sans CJK JP"/>
              </a:defRPr>
            </a:pPr>
            <a:r>
              <a:t>みやぎゼロカーボン学生アンバサダーの紹介</a:t>
            </a:r>
          </a:p>
        </p:txBody>
      </p:sp>
      <p:sp>
        <p:nvSpPr>
          <p:cNvPr id="24" name="Rectangle 23"/>
          <p:cNvSpPr/>
          <p:nvPr/>
        </p:nvSpPr>
        <p:spPr>
          <a:xfrm>
            <a:off x="9235440" y="694944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235440" y="694944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36608" y="7077455"/>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SNSの紹介</a:t>
            </a:r>
          </a:p>
        </p:txBody>
      </p:sp>
      <p:sp>
        <p:nvSpPr>
          <p:cNvPr id="27" name="Rectangle 26"/>
          <p:cNvSpPr/>
          <p:nvPr/>
        </p:nvSpPr>
        <p:spPr>
          <a:xfrm>
            <a:off x="9235440" y="8138160"/>
            <a:ext cx="8183879" cy="9601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35440" y="8138160"/>
            <a:ext cx="54864" cy="9601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36608" y="8266176"/>
            <a:ext cx="7781544" cy="70408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エンディング（アンバサダーとしての思い）</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ライト層向けの回遊施策（篠村）</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16 / 26</a:t>
            </a:r>
          </a:p>
        </p:txBody>
      </p:sp>
      <p:sp>
        <p:nvSpPr>
          <p:cNvPr id="5" name="Rectangle 4"/>
          <p:cNvSpPr/>
          <p:nvPr/>
        </p:nvSpPr>
        <p:spPr>
          <a:xfrm>
            <a:off x="868680" y="2194560"/>
            <a:ext cx="16550640" cy="32918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94560"/>
            <a:ext cx="54864" cy="32918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22576"/>
            <a:ext cx="16148304" cy="3035808"/>
          </a:xfrm>
          <a:prstGeom prst="rect">
            <a:avLst/>
          </a:prstGeom>
          <a:noFill/>
        </p:spPr>
        <p:txBody>
          <a:bodyPr wrap="square" lIns="73152" rIns="73152" tIns="36576" bIns="36576">
            <a:spAutoFit/>
          </a:bodyPr>
          <a:lstStyle/>
          <a:p>
            <a:pPr>
              <a:lnSpc>
                <a:spcPct val="115000"/>
              </a:lnSpc>
              <a:spcAft>
                <a:spcPts val="700"/>
              </a:spcAft>
              <a:defRPr sz="2900" b="0">
                <a:solidFill>
                  <a:srgbClr val="17353B"/>
                </a:solidFill>
                <a:latin typeface="Noto Sans CJK JP"/>
              </a:defRPr>
            </a:pPr>
            <a:r>
              <a:t>SNSやチラシなどを見てきてくれる人と、学生などのイオンモールに来てたまたま大作戦があることを知って気軽に参加してくれる人（ライト層）、それぞれに向けてプログラムを検討中。ライト層は環境活動への関心もそこまで高くないと考えられるため、まずは楽しそうな本イベントに参加してもらいたい。その中で環境活動に興味をもってもらえる内容となるよう工夫する。</a:t>
            </a:r>
          </a:p>
        </p:txBody>
      </p:sp>
      <p:sp>
        <p:nvSpPr>
          <p:cNvPr id="8" name="Rectangle 7"/>
          <p:cNvSpPr/>
          <p:nvPr/>
        </p:nvSpPr>
        <p:spPr>
          <a:xfrm>
            <a:off x="868680" y="5806440"/>
            <a:ext cx="8229600"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68680" y="5806440"/>
            <a:ext cx="54864" cy="3474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5934455"/>
            <a:ext cx="7827264" cy="3218687"/>
          </a:xfrm>
          <a:prstGeom prst="rect">
            <a:avLst/>
          </a:prstGeom>
          <a:noFill/>
        </p:spPr>
        <p:txBody>
          <a:bodyPr wrap="square" lIns="73152" rIns="73152" tIns="36576" bIns="36576">
            <a:spAutoFit/>
          </a:bodyPr>
          <a:lstStyle/>
          <a:p>
            <a:pPr>
              <a:lnSpc>
                <a:spcPct val="115000"/>
              </a:lnSpc>
              <a:spcAft>
                <a:spcPts val="700"/>
              </a:spcAft>
              <a:defRPr sz="2800" b="0">
                <a:solidFill>
                  <a:srgbClr val="17353B"/>
                </a:solidFill>
                <a:latin typeface="Noto Sans CJK JP"/>
              </a:defRPr>
            </a:pPr>
            <a:r>
              <a:t>ライト層について現時点で考えているアプローチ方法</a:t>
            </a:r>
          </a:p>
          <a:p>
            <a:pPr>
              <a:lnSpc>
                <a:spcPct val="115000"/>
              </a:lnSpc>
              <a:spcAft>
                <a:spcPts val="700"/>
              </a:spcAft>
              <a:defRPr sz="2800" b="0">
                <a:solidFill>
                  <a:srgbClr val="17353B"/>
                </a:solidFill>
                <a:latin typeface="Noto Sans CJK JP"/>
              </a:defRPr>
            </a:pPr>
            <a:r>
              <a:t>・QRコードで参加できるプログラム</a:t>
            </a:r>
          </a:p>
          <a:p>
            <a:pPr>
              <a:lnSpc>
                <a:spcPct val="115000"/>
              </a:lnSpc>
              <a:spcAft>
                <a:spcPts val="700"/>
              </a:spcAft>
              <a:defRPr sz="2800" b="0">
                <a:solidFill>
                  <a:srgbClr val="17353B"/>
                </a:solidFill>
                <a:latin typeface="Noto Sans CJK JP"/>
              </a:defRPr>
            </a:pPr>
            <a:r>
              <a:t>・謎解きやキーワード集めを予定</a:t>
            </a:r>
          </a:p>
          <a:p>
            <a:pPr>
              <a:lnSpc>
                <a:spcPct val="115000"/>
              </a:lnSpc>
              <a:spcAft>
                <a:spcPts val="700"/>
              </a:spcAft>
              <a:defRPr sz="2800" b="0">
                <a:solidFill>
                  <a:srgbClr val="17353B"/>
                </a:solidFill>
                <a:latin typeface="Noto Sans CJK JP"/>
              </a:defRPr>
            </a:pPr>
            <a:r>
              <a:t>・前スライドの動画での紹介</a:t>
            </a:r>
          </a:p>
        </p:txBody>
      </p:sp>
      <p:sp>
        <p:nvSpPr>
          <p:cNvPr id="11" name="Rectangle 10"/>
          <p:cNvSpPr/>
          <p:nvPr/>
        </p:nvSpPr>
        <p:spPr>
          <a:xfrm>
            <a:off x="9464040" y="5806440"/>
            <a:ext cx="7955279" cy="3474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464040" y="5806440"/>
            <a:ext cx="54864" cy="3474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65208" y="5934455"/>
            <a:ext cx="7552944" cy="3218687"/>
          </a:xfrm>
          <a:prstGeom prst="rect">
            <a:avLst/>
          </a:prstGeom>
          <a:noFill/>
        </p:spPr>
        <p:txBody>
          <a:bodyPr wrap="square" lIns="73152" rIns="73152" tIns="36576" bIns="36576">
            <a:spAutoFit/>
          </a:bodyPr>
          <a:lstStyle/>
          <a:p>
            <a:pPr>
              <a:lnSpc>
                <a:spcPct val="115000"/>
              </a:lnSpc>
              <a:spcAft>
                <a:spcPts val="700"/>
              </a:spcAft>
              <a:defRPr sz="3500" b="0">
                <a:solidFill>
                  <a:srgbClr val="17353B"/>
                </a:solidFill>
                <a:latin typeface="Noto Sans CJK JP"/>
              </a:defRPr>
            </a:pPr>
            <a:r>
              <a:t>景品を豪華にすることなく、参加する楽しさを感じてもらいたい。</a:t>
            </a:r>
          </a:p>
          <a:p>
            <a:pPr>
              <a:lnSpc>
                <a:spcPct val="115000"/>
              </a:lnSpc>
              <a:spcAft>
                <a:spcPts val="700"/>
              </a:spcAft>
              <a:defRPr sz="3500" b="0">
                <a:solidFill>
                  <a:srgbClr val="17353B"/>
                </a:solidFill>
                <a:latin typeface="Noto Sans CJK JP"/>
              </a:defRPr>
            </a:pPr>
            <a:r>
              <a:t>→それが学び・実生活での意識に</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name="Freeform 20" id="20"/>
          <p:cNvSpPr/>
          <p:nvPr/>
        </p:nvSpPr>
        <p:spPr>
          <a:xfrm flipH="false" flipV="false" rot="0">
            <a:off x="11064240" y="8229600"/>
            <a:ext cx="2468880" cy="1645920"/>
          </a:xfrm>
          <a:custGeom>
            <a:avLst/>
            <a:gdLst/>
            <a:ahLst/>
            <a:cxnLst/>
            <a:rect r="r" b="b" t="t" l="l"/>
            <a:pathLst>
              <a:path h="3253271" w="4879906">
                <a:moveTo>
                  <a:pt x="0" y="0"/>
                </a:moveTo>
                <a:lnTo>
                  <a:pt x="4879906" y="0"/>
                </a:lnTo>
                <a:lnTo>
                  <a:pt x="4879906" y="3253270"/>
                </a:lnTo>
                <a:lnTo>
                  <a:pt x="0" y="3253270"/>
                </a:lnTo>
                <a:lnTo>
                  <a:pt x="0" y="0"/>
                </a:lnTo>
                <a:close/>
              </a:path>
            </a:pathLst>
          </a:custGeom>
          <a:blipFill>
            <a:blip r:embed="rId3"/>
            <a:stretch>
              <a:fillRect l="0" t="0" r="0" b="0"/>
            </a:stretch>
          </a:blipFill>
        </p:spPr>
        <p:txBody>
          <a:bodyPr/>
          <a:p/>
        </p:txBody>
      </p:sp>
      <p:sp>
        <p:nvSpPr>
          <p:cNvPr name="Freeform 21" id="21"/>
          <p:cNvSpPr/>
          <p:nvPr/>
        </p:nvSpPr>
        <p:spPr>
          <a:xfrm flipH="false" flipV="false" rot="0">
            <a:off x="14173200" y="8229600"/>
            <a:ext cx="2468880" cy="1645920"/>
          </a:xfrm>
          <a:custGeom>
            <a:avLst/>
            <a:gdLst/>
            <a:ahLst/>
            <a:cxnLst/>
            <a:rect r="r" b="b" t="t" l="l"/>
            <a:pathLst>
              <a:path h="3245907" w="4868861">
                <a:moveTo>
                  <a:pt x="0" y="0"/>
                </a:moveTo>
                <a:lnTo>
                  <a:pt x="4868861" y="0"/>
                </a:lnTo>
                <a:lnTo>
                  <a:pt x="4868861" y="3245907"/>
                </a:lnTo>
                <a:lnTo>
                  <a:pt x="0" y="3245907"/>
                </a:lnTo>
                <a:lnTo>
                  <a:pt x="0" y="0"/>
                </a:lnTo>
                <a:close/>
              </a:path>
            </a:pathLst>
          </a:custGeom>
          <a:blipFill>
            <a:blip r:embed="rId4"/>
            <a:stretch>
              <a:fillRect l="0" t="0" r="0" b="0"/>
            </a:stretch>
          </a:blipFill>
        </p:spPr>
        <p:txBody>
          <a:bodyPr/>
          <a:p/>
        </p:txBody>
      </p:sp>
      <p:sp>
        <p:nvSpPr>
          <p:cNvPr id="22" name="TextBox 2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親子向け回遊施策</a:t>
            </a:r>
          </a:p>
        </p:txBody>
      </p:sp>
      <p:sp>
        <p:nvSpPr>
          <p:cNvPr id="23" name="Rectangle 2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17 / 26</a:t>
            </a:r>
          </a:p>
        </p:txBody>
      </p:sp>
      <p:sp>
        <p:nvSpPr>
          <p:cNvPr id="25" name="Rectangle 24"/>
          <p:cNvSpPr/>
          <p:nvPr/>
        </p:nvSpPr>
        <p:spPr>
          <a:xfrm>
            <a:off x="868680" y="2103120"/>
            <a:ext cx="16550640" cy="17373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68680" y="2103120"/>
            <a:ext cx="54864" cy="17373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69848" y="2231136"/>
            <a:ext cx="16148304" cy="148132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施策・・・紙媒体を用いたスタンプラリー</a:t>
            </a:r>
          </a:p>
          <a:p>
            <a:pPr>
              <a:lnSpc>
                <a:spcPct val="115000"/>
              </a:lnSpc>
              <a:spcAft>
                <a:spcPts val="700"/>
              </a:spcAft>
              <a:defRPr sz="2000" b="0">
                <a:solidFill>
                  <a:srgbClr val="17353B"/>
                </a:solidFill>
                <a:latin typeface="Noto Sans CJK JP"/>
              </a:defRPr>
            </a:pPr>
            <a:r>
              <a:t>→親と子供が協力して達成させる方針</a:t>
            </a:r>
          </a:p>
          <a:p>
            <a:pPr>
              <a:lnSpc>
                <a:spcPct val="115000"/>
              </a:lnSpc>
              <a:spcAft>
                <a:spcPts val="700"/>
              </a:spcAft>
              <a:defRPr sz="2000" b="0">
                <a:solidFill>
                  <a:srgbClr val="17353B"/>
                </a:solidFill>
                <a:latin typeface="Noto Sans CJK JP"/>
              </a:defRPr>
            </a:pPr>
            <a:r>
              <a:t>（→子供が解くのを親がアシストする）</a:t>
            </a:r>
          </a:p>
        </p:txBody>
      </p:sp>
      <p:sp>
        <p:nvSpPr>
          <p:cNvPr id="28" name="Rectangle 27"/>
          <p:cNvSpPr/>
          <p:nvPr/>
        </p:nvSpPr>
        <p:spPr>
          <a:xfrm>
            <a:off x="868680" y="4114800"/>
            <a:ext cx="7955279" cy="53949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68680" y="4114800"/>
            <a:ext cx="54864" cy="53949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69848" y="4242816"/>
            <a:ext cx="7552944" cy="513892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案：キーワードを集めるスタイル。</a:t>
            </a:r>
          </a:p>
          <a:p>
            <a:pPr>
              <a:lnSpc>
                <a:spcPct val="115000"/>
              </a:lnSpc>
              <a:spcAft>
                <a:spcPts val="700"/>
              </a:spcAft>
              <a:defRPr sz="2000" b="0">
                <a:solidFill>
                  <a:srgbClr val="17353B"/>
                </a:solidFill>
                <a:latin typeface="Noto Sans CJK JP"/>
              </a:defRPr>
            </a:pPr>
          </a:p>
          <a:p>
            <a:pPr>
              <a:lnSpc>
                <a:spcPct val="115000"/>
              </a:lnSpc>
              <a:spcAft>
                <a:spcPts val="700"/>
              </a:spcAft>
              <a:defRPr sz="2000" b="0">
                <a:solidFill>
                  <a:srgbClr val="17353B"/>
                </a:solidFill>
                <a:latin typeface="Noto Sans CJK JP"/>
              </a:defRPr>
            </a:pPr>
            <a:r>
              <a:t>例：ブースを回るごとにキーワードを集める→頭文字を組み合わせる→景品をもらう合言葉が完成する→アンバサダーに合言葉を伝え、景品を贈呈。</a:t>
            </a:r>
          </a:p>
          <a:p>
            <a:pPr>
              <a:lnSpc>
                <a:spcPct val="115000"/>
              </a:lnSpc>
              <a:spcAft>
                <a:spcPts val="700"/>
              </a:spcAft>
              <a:defRPr sz="2000" b="0">
                <a:solidFill>
                  <a:srgbClr val="17353B"/>
                </a:solidFill>
                <a:latin typeface="Noto Sans CJK JP"/>
              </a:defRPr>
            </a:pPr>
          </a:p>
          <a:p>
            <a:pPr>
              <a:lnSpc>
                <a:spcPct val="115000"/>
              </a:lnSpc>
              <a:spcAft>
                <a:spcPts val="700"/>
              </a:spcAft>
              <a:defRPr sz="2000" b="0">
                <a:solidFill>
                  <a:srgbClr val="17353B"/>
                </a:solidFill>
                <a:latin typeface="Noto Sans CJK JP"/>
              </a:defRPr>
            </a:pPr>
            <a:r>
              <a:t>→物理的なギミックの導入</a:t>
            </a:r>
          </a:p>
          <a:p>
            <a:pPr>
              <a:lnSpc>
                <a:spcPct val="115000"/>
              </a:lnSpc>
              <a:spcAft>
                <a:spcPts val="700"/>
              </a:spcAft>
              <a:defRPr sz="2000" b="0">
                <a:solidFill>
                  <a:srgbClr val="17353B"/>
                </a:solidFill>
                <a:latin typeface="Noto Sans CJK JP"/>
              </a:defRPr>
            </a:pPr>
          </a:p>
          <a:p>
            <a:pPr>
              <a:lnSpc>
                <a:spcPct val="115000"/>
              </a:lnSpc>
              <a:spcAft>
                <a:spcPts val="700"/>
              </a:spcAft>
              <a:defRPr sz="2000" b="0">
                <a:solidFill>
                  <a:srgbClr val="17353B"/>
                </a:solidFill>
                <a:latin typeface="Noto Sans CJK JP"/>
              </a:defRPr>
            </a:pPr>
            <a:r>
              <a:t>例1：台紙に穴が開いており、折ったり重ねたりすることで合言葉が浮かび上がる仕組み。</a:t>
            </a:r>
          </a:p>
          <a:p>
            <a:pPr>
              <a:lnSpc>
                <a:spcPct val="115000"/>
              </a:lnSpc>
              <a:spcAft>
                <a:spcPts val="700"/>
              </a:spcAft>
              <a:defRPr sz="2000" b="0">
                <a:solidFill>
                  <a:srgbClr val="17353B"/>
                </a:solidFill>
                <a:latin typeface="Noto Sans CJK JP"/>
              </a:defRPr>
            </a:pPr>
            <a:r>
              <a:t>例2：シールを貼ることで特定のワードが浮かぶ（仮）</a:t>
            </a:r>
          </a:p>
          <a:p>
            <a:pPr>
              <a:lnSpc>
                <a:spcPct val="115000"/>
              </a:lnSpc>
              <a:spcAft>
                <a:spcPts val="700"/>
              </a:spcAft>
              <a:defRPr sz="2000" b="0">
                <a:solidFill>
                  <a:srgbClr val="17353B"/>
                </a:solidFill>
                <a:latin typeface="Noto Sans CJK JP"/>
              </a:defRPr>
            </a:pPr>
          </a:p>
        </p:txBody>
      </p:sp>
      <p:sp>
        <p:nvSpPr>
          <p:cNvPr id="31" name="Rectangle 30"/>
          <p:cNvSpPr/>
          <p:nvPr/>
        </p:nvSpPr>
        <p:spPr>
          <a:xfrm>
            <a:off x="9189720" y="4114800"/>
            <a:ext cx="82296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89720" y="4114800"/>
            <a:ext cx="54864" cy="18288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90888" y="4242816"/>
            <a:ext cx="7827264" cy="157276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→ブースの出展内容に依らず、ブース番号やエリア分けによる回遊を図る</a:t>
            </a:r>
          </a:p>
          <a:p>
            <a:pPr>
              <a:lnSpc>
                <a:spcPct val="115000"/>
              </a:lnSpc>
              <a:spcAft>
                <a:spcPts val="700"/>
              </a:spcAft>
              <a:defRPr sz="2000" b="0">
                <a:solidFill>
                  <a:srgbClr val="17353B"/>
                </a:solidFill>
                <a:latin typeface="Noto Sans CJK JP"/>
              </a:defRPr>
            </a:pPr>
          </a:p>
          <a:p>
            <a:pPr>
              <a:lnSpc>
                <a:spcPct val="115000"/>
              </a:lnSpc>
              <a:spcAft>
                <a:spcPts val="700"/>
              </a:spcAft>
              <a:defRPr sz="2000" b="0">
                <a:solidFill>
                  <a:srgbClr val="17353B"/>
                </a:solidFill>
                <a:latin typeface="Noto Sans CJK JP"/>
              </a:defRPr>
            </a:pPr>
            <a:r>
              <a:t>例：親子向け体験ブース（ワークショップ等）や特に回遊を促したいブースを対象とする。</a:t>
            </a:r>
          </a:p>
        </p:txBody>
      </p:sp>
      <p:sp>
        <p:nvSpPr>
          <p:cNvPr id="34" name="Rectangle 33"/>
          <p:cNvSpPr/>
          <p:nvPr/>
        </p:nvSpPr>
        <p:spPr>
          <a:xfrm>
            <a:off x="9189720" y="6217920"/>
            <a:ext cx="8229600" cy="1828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89720" y="6217920"/>
            <a:ext cx="54864" cy="18288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90888" y="6345936"/>
            <a:ext cx="7827264" cy="1572768"/>
          </a:xfrm>
          <a:prstGeom prst="rect">
            <a:avLst/>
          </a:prstGeom>
          <a:noFill/>
        </p:spPr>
        <p:txBody>
          <a:bodyPr wrap="square" lIns="73152" rIns="73152" tIns="36576" bIns="36576">
            <a:spAutoFit/>
          </a:bodyPr>
          <a:lstStyle/>
          <a:p>
            <a:pPr>
              <a:lnSpc>
                <a:spcPct val="115000"/>
              </a:lnSpc>
              <a:spcAft>
                <a:spcPts val="700"/>
              </a:spcAft>
              <a:defRPr sz="2000" b="0">
                <a:solidFill>
                  <a:srgbClr val="17353B"/>
                </a:solidFill>
                <a:latin typeface="Noto Sans CJK JP"/>
              </a:defRPr>
            </a:pPr>
            <a:r>
              <a:t>→ブースへの負担を減らす協力</a:t>
            </a:r>
          </a:p>
          <a:p>
            <a:pPr>
              <a:lnSpc>
                <a:spcPct val="115000"/>
              </a:lnSpc>
              <a:spcAft>
                <a:spcPts val="700"/>
              </a:spcAft>
              <a:defRPr sz="2000" b="0">
                <a:solidFill>
                  <a:srgbClr val="17353B"/>
                </a:solidFill>
                <a:latin typeface="Noto Sans CJK JP"/>
              </a:defRPr>
            </a:pPr>
          </a:p>
          <a:p>
            <a:pPr>
              <a:lnSpc>
                <a:spcPct val="115000"/>
              </a:lnSpc>
              <a:spcAft>
                <a:spcPts val="700"/>
              </a:spcAft>
              <a:defRPr sz="2000" b="0">
                <a:solidFill>
                  <a:srgbClr val="17353B"/>
                </a:solidFill>
                <a:latin typeface="Noto Sans CJK JP"/>
              </a:defRPr>
            </a:pPr>
            <a:r>
              <a:t>例：体験に来た親子にキーワードパネルを見せる、シールを渡す等。このとき、ブース側の出展内容に触れる機会を設ける。</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広報施策</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18 / 26</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Instagramによる情報発信(菊池)</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19 / 26</a:t>
            </a:r>
          </a:p>
        </p:txBody>
      </p:sp>
      <p:sp>
        <p:nvSpPr>
          <p:cNvPr id="5" name="Rectangle 4"/>
          <p:cNvSpPr/>
          <p:nvPr/>
        </p:nvSpPr>
        <p:spPr>
          <a:xfrm>
            <a:off x="868680" y="2194560"/>
            <a:ext cx="8046720" cy="7223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94560"/>
            <a:ext cx="54864" cy="72237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22576"/>
            <a:ext cx="7644384" cy="6967728"/>
          </a:xfrm>
          <a:prstGeom prst="rect">
            <a:avLst/>
          </a:prstGeom>
          <a:noFill/>
        </p:spPr>
        <p:txBody>
          <a:bodyPr wrap="square" lIns="73152" rIns="73152" tIns="36576" bIns="36576">
            <a:spAutoFit/>
          </a:bodyPr>
          <a:lstStyle/>
          <a:p>
            <a:pPr>
              <a:lnSpc>
                <a:spcPct val="115000"/>
              </a:lnSpc>
              <a:spcAft>
                <a:spcPts val="700"/>
              </a:spcAft>
              <a:defRPr sz="3200" b="0">
                <a:solidFill>
                  <a:srgbClr val="17353B"/>
                </a:solidFill>
                <a:latin typeface="Noto Sans CJK JP"/>
              </a:defRPr>
            </a:pPr>
            <a:r>
              <a:t>①クイズ</a:t>
            </a:r>
          </a:p>
          <a:p>
            <a:pPr>
              <a:lnSpc>
                <a:spcPct val="115000"/>
              </a:lnSpc>
              <a:spcAft>
                <a:spcPts val="700"/>
              </a:spcAft>
              <a:defRPr sz="3200" b="0">
                <a:solidFill>
                  <a:srgbClr val="17353B"/>
                </a:solidFill>
                <a:latin typeface="Noto Sans CJK JP"/>
              </a:defRPr>
            </a:pPr>
            <a:r>
              <a:t>▪２週間に一度</a:t>
            </a:r>
          </a:p>
          <a:p>
            <a:pPr>
              <a:lnSpc>
                <a:spcPct val="115000"/>
              </a:lnSpc>
              <a:spcAft>
                <a:spcPts val="700"/>
              </a:spcAft>
              <a:defRPr sz="3200" b="0">
                <a:solidFill>
                  <a:srgbClr val="17353B"/>
                </a:solidFill>
                <a:latin typeface="Noto Sans CJK JP"/>
              </a:defRPr>
            </a:pPr>
            <a:r>
              <a:t>▪ゴールデンタイム</a:t>
            </a:r>
          </a:p>
          <a:p>
            <a:pPr>
              <a:lnSpc>
                <a:spcPct val="115000"/>
              </a:lnSpc>
              <a:spcAft>
                <a:spcPts val="700"/>
              </a:spcAft>
              <a:defRPr sz="3200" b="0">
                <a:solidFill>
                  <a:srgbClr val="17353B"/>
                </a:solidFill>
                <a:latin typeface="Noto Sans CJK JP"/>
              </a:defRPr>
            </a:pPr>
            <a:r>
              <a:t>(19:00～22:00)</a:t>
            </a:r>
          </a:p>
          <a:p>
            <a:pPr>
              <a:lnSpc>
                <a:spcPct val="115000"/>
              </a:lnSpc>
              <a:spcAft>
                <a:spcPts val="700"/>
              </a:spcAft>
              <a:defRPr sz="3200" b="0">
                <a:solidFill>
                  <a:srgbClr val="17353B"/>
                </a:solidFill>
                <a:latin typeface="Noto Sans CJK JP"/>
              </a:defRPr>
            </a:pPr>
            <a:r>
              <a:t>▪準備出来次第投稿</a:t>
            </a:r>
          </a:p>
          <a:p>
            <a:pPr>
              <a:lnSpc>
                <a:spcPct val="115000"/>
              </a:lnSpc>
              <a:spcAft>
                <a:spcPts val="700"/>
              </a:spcAft>
              <a:defRPr sz="3200" b="0">
                <a:solidFill>
                  <a:srgbClr val="17353B"/>
                </a:solidFill>
                <a:latin typeface="Noto Sans CJK JP"/>
              </a:defRPr>
            </a:pPr>
            <a:r>
              <a:t>▪問題例</a:t>
            </a:r>
          </a:p>
          <a:p>
            <a:pPr>
              <a:lnSpc>
                <a:spcPct val="115000"/>
              </a:lnSpc>
              <a:spcAft>
                <a:spcPts val="700"/>
              </a:spcAft>
              <a:defRPr sz="3200" b="0">
                <a:solidFill>
                  <a:srgbClr val="17353B"/>
                </a:solidFill>
                <a:latin typeface="Noto Sans CJK JP"/>
              </a:defRPr>
            </a:pPr>
            <a:r>
              <a:t>　　</a:t>
            </a:r>
          </a:p>
          <a:p>
            <a:pPr>
              <a:lnSpc>
                <a:spcPct val="115000"/>
              </a:lnSpc>
              <a:spcAft>
                <a:spcPts val="700"/>
              </a:spcAft>
              <a:defRPr sz="3200" b="0">
                <a:solidFill>
                  <a:srgbClr val="17353B"/>
                </a:solidFill>
                <a:latin typeface="Noto Sans CJK JP"/>
              </a:defRPr>
            </a:pPr>
            <a:r>
              <a:t>Q.令和5年の日本の食品ロス量は？</a:t>
            </a:r>
          </a:p>
          <a:p>
            <a:pPr>
              <a:lnSpc>
                <a:spcPct val="115000"/>
              </a:lnSpc>
              <a:spcAft>
                <a:spcPts val="700"/>
              </a:spcAft>
              <a:defRPr sz="3200" b="0">
                <a:solidFill>
                  <a:srgbClr val="17353B"/>
                </a:solidFill>
                <a:latin typeface="Noto Sans CJK JP"/>
              </a:defRPr>
            </a:pPr>
            <a:r>
              <a:t>A.464万トン（出典：環境省）</a:t>
            </a:r>
          </a:p>
        </p:txBody>
      </p:sp>
      <p:sp>
        <p:nvSpPr>
          <p:cNvPr id="8" name="Rectangle 7"/>
          <p:cNvSpPr/>
          <p:nvPr/>
        </p:nvSpPr>
        <p:spPr>
          <a:xfrm>
            <a:off x="9281160" y="2194560"/>
            <a:ext cx="8138160" cy="7223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1160" y="2194560"/>
            <a:ext cx="54864" cy="72237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82328" y="2322576"/>
            <a:ext cx="7735824" cy="6967728"/>
          </a:xfrm>
          <a:prstGeom prst="rect">
            <a:avLst/>
          </a:prstGeom>
          <a:noFill/>
        </p:spPr>
        <p:txBody>
          <a:bodyPr wrap="square" lIns="73152" rIns="73152" tIns="36576" bIns="36576">
            <a:spAutoFit/>
          </a:bodyPr>
          <a:lstStyle/>
          <a:p>
            <a:pPr>
              <a:lnSpc>
                <a:spcPct val="115000"/>
              </a:lnSpc>
              <a:spcAft>
                <a:spcPts val="700"/>
              </a:spcAft>
              <a:defRPr sz="3000" b="0">
                <a:solidFill>
                  <a:srgbClr val="17353B"/>
                </a:solidFill>
                <a:latin typeface="Noto Sans CJK JP"/>
              </a:defRPr>
            </a:pPr>
            <a:r>
              <a:t>②イベント会場・概要</a:t>
            </a:r>
          </a:p>
          <a:p>
            <a:pPr>
              <a:lnSpc>
                <a:spcPct val="115000"/>
              </a:lnSpc>
              <a:spcAft>
                <a:spcPts val="700"/>
              </a:spcAft>
              <a:defRPr sz="3000" b="0">
                <a:solidFill>
                  <a:srgbClr val="17353B"/>
                </a:solidFill>
                <a:latin typeface="Noto Sans CJK JP"/>
              </a:defRPr>
            </a:pPr>
            <a:r>
              <a:t>▪昨年（12月中から順次up）</a:t>
            </a:r>
          </a:p>
          <a:p>
            <a:pPr>
              <a:lnSpc>
                <a:spcPct val="115000"/>
              </a:lnSpc>
              <a:spcAft>
                <a:spcPts val="700"/>
              </a:spcAft>
              <a:defRPr sz="3000" b="0">
                <a:solidFill>
                  <a:srgbClr val="17353B"/>
                </a:solidFill>
                <a:latin typeface="Noto Sans CJK JP"/>
              </a:defRPr>
            </a:pPr>
            <a:r>
              <a:t>・日時や場所、会場の様子を投稿</a:t>
            </a:r>
          </a:p>
          <a:p>
            <a:pPr>
              <a:lnSpc>
                <a:spcPct val="115000"/>
              </a:lnSpc>
              <a:spcAft>
                <a:spcPts val="700"/>
              </a:spcAft>
              <a:defRPr sz="3000" b="0">
                <a:solidFill>
                  <a:srgbClr val="17353B"/>
                </a:solidFill>
                <a:latin typeface="Noto Sans CJK JP"/>
              </a:defRPr>
            </a:pPr>
            <a:r>
              <a:t>・出展企業例の紹介</a:t>
            </a:r>
          </a:p>
          <a:p>
            <a:pPr>
              <a:lnSpc>
                <a:spcPct val="115000"/>
              </a:lnSpc>
              <a:spcAft>
                <a:spcPts val="700"/>
              </a:spcAft>
              <a:defRPr sz="3000" b="0">
                <a:solidFill>
                  <a:srgbClr val="17353B"/>
                </a:solidFill>
                <a:latin typeface="Noto Sans CJK JP"/>
              </a:defRPr>
            </a:pPr>
            <a:r>
              <a:t>▪今年</a:t>
            </a:r>
          </a:p>
          <a:p>
            <a:pPr>
              <a:lnSpc>
                <a:spcPct val="115000"/>
              </a:lnSpc>
              <a:spcAft>
                <a:spcPts val="700"/>
              </a:spcAft>
              <a:defRPr sz="3000" b="0">
                <a:solidFill>
                  <a:srgbClr val="17353B"/>
                </a:solidFill>
                <a:latin typeface="Noto Sans CJK JP"/>
              </a:defRPr>
            </a:pPr>
            <a:r>
              <a:t>・日時、場所の明記</a:t>
            </a:r>
          </a:p>
          <a:p>
            <a:pPr>
              <a:lnSpc>
                <a:spcPct val="115000"/>
              </a:lnSpc>
              <a:spcAft>
                <a:spcPts val="700"/>
              </a:spcAft>
              <a:defRPr sz="3000" b="0">
                <a:solidFill>
                  <a:srgbClr val="17353B"/>
                </a:solidFill>
                <a:latin typeface="Noto Sans CJK JP"/>
              </a:defRPr>
            </a:pPr>
            <a:r>
              <a:t>・出展企業情報(確定次第順次発信)</a:t>
            </a:r>
          </a:p>
          <a:p>
            <a:pPr>
              <a:lnSpc>
                <a:spcPct val="115000"/>
              </a:lnSpc>
              <a:spcAft>
                <a:spcPts val="700"/>
              </a:spcAft>
              <a:defRPr sz="3000" b="0">
                <a:solidFill>
                  <a:srgbClr val="17353B"/>
                </a:solidFill>
                <a:latin typeface="Noto Sans CJK JP"/>
              </a:defRPr>
            </a:pPr>
            <a:r>
              <a:t>▪上記の内容は若年層へおすすめ</a:t>
            </a:r>
          </a:p>
          <a:p>
            <a:pPr>
              <a:lnSpc>
                <a:spcPct val="115000"/>
              </a:lnSpc>
              <a:spcAft>
                <a:spcPts val="700"/>
              </a:spcAft>
              <a:defRPr sz="3000" b="0">
                <a:solidFill>
                  <a:srgbClr val="17353B"/>
                </a:solidFill>
                <a:latin typeface="Noto Sans CJK JP"/>
              </a:defRPr>
            </a:pPr>
            <a:r>
              <a:t>したい情報を中心に発信</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県民アクションについて（菅沼）</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20 / 26</a:t>
            </a:r>
          </a:p>
        </p:txBody>
      </p:sp>
      <p:sp>
        <p:nvSpPr>
          <p:cNvPr id="5" name="Rectangle 4"/>
          <p:cNvSpPr/>
          <p:nvPr/>
        </p:nvSpPr>
        <p:spPr>
          <a:xfrm>
            <a:off x="868680" y="2194560"/>
            <a:ext cx="8046720"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94560"/>
            <a:ext cx="54864" cy="23774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22576"/>
            <a:ext cx="7644384" cy="2121408"/>
          </a:xfrm>
          <a:prstGeom prst="rect">
            <a:avLst/>
          </a:prstGeom>
          <a:noFill/>
        </p:spPr>
        <p:txBody>
          <a:bodyPr wrap="square" lIns="73152" rIns="73152" tIns="36576" bIns="36576">
            <a:spAutoFit/>
          </a:bodyPr>
          <a:lstStyle/>
          <a:p>
            <a:pPr>
              <a:lnSpc>
                <a:spcPct val="115000"/>
              </a:lnSpc>
              <a:spcAft>
                <a:spcPts val="700"/>
              </a:spcAft>
              <a:defRPr sz="2100" b="0">
                <a:solidFill>
                  <a:srgbClr val="17353B"/>
                </a:solidFill>
                <a:latin typeface="Noto Sans CJK JP"/>
              </a:defRPr>
            </a:pPr>
            <a:r>
              <a:t>目的</a:t>
            </a:r>
          </a:p>
          <a:p>
            <a:pPr>
              <a:lnSpc>
                <a:spcPct val="115000"/>
              </a:lnSpc>
              <a:spcAft>
                <a:spcPts val="700"/>
              </a:spcAft>
              <a:defRPr sz="2100" b="0">
                <a:solidFill>
                  <a:srgbClr val="17353B"/>
                </a:solidFill>
                <a:latin typeface="Noto Sans CJK JP"/>
              </a:defRPr>
            </a:pPr>
            <a:r>
              <a:t>県民が行っているエコに関わる取り組みを可視化し、SNSを通じて波及効果を生む。</a:t>
            </a:r>
          </a:p>
          <a:p>
            <a:pPr>
              <a:lnSpc>
                <a:spcPct val="115000"/>
              </a:lnSpc>
              <a:spcAft>
                <a:spcPts val="700"/>
              </a:spcAft>
              <a:defRPr sz="2100" b="0">
                <a:solidFill>
                  <a:srgbClr val="17353B"/>
                </a:solidFill>
                <a:latin typeface="Noto Sans CJK JP"/>
              </a:defRPr>
            </a:pPr>
            <a:r>
              <a:t>ゼロカーボン大作戦への関心を高める。</a:t>
            </a:r>
          </a:p>
        </p:txBody>
      </p:sp>
      <p:sp>
        <p:nvSpPr>
          <p:cNvPr id="8" name="Rectangle 7"/>
          <p:cNvSpPr/>
          <p:nvPr/>
        </p:nvSpPr>
        <p:spPr>
          <a:xfrm>
            <a:off x="9281160" y="2194560"/>
            <a:ext cx="8138160" cy="3931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1160" y="2194560"/>
            <a:ext cx="54864" cy="39319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82328" y="2322576"/>
            <a:ext cx="7735824" cy="3675887"/>
          </a:xfrm>
          <a:prstGeom prst="rect">
            <a:avLst/>
          </a:prstGeom>
          <a:noFill/>
        </p:spPr>
        <p:txBody>
          <a:bodyPr wrap="square" lIns="73152" rIns="73152" tIns="36576" bIns="36576">
            <a:spAutoFit/>
          </a:bodyPr>
          <a:lstStyle/>
          <a:p>
            <a:pPr>
              <a:lnSpc>
                <a:spcPct val="115000"/>
              </a:lnSpc>
              <a:spcAft>
                <a:spcPts val="700"/>
              </a:spcAft>
              <a:defRPr sz="2300" b="0">
                <a:solidFill>
                  <a:srgbClr val="17353B"/>
                </a:solidFill>
                <a:latin typeface="Noto Sans CJK JP"/>
              </a:defRPr>
            </a:pPr>
            <a:r>
              <a:t>内容</a:t>
            </a:r>
          </a:p>
          <a:p>
            <a:pPr>
              <a:lnSpc>
                <a:spcPct val="115000"/>
              </a:lnSpc>
              <a:spcAft>
                <a:spcPts val="700"/>
              </a:spcAft>
              <a:defRPr sz="2300" b="0">
                <a:solidFill>
                  <a:srgbClr val="17353B"/>
                </a:solidFill>
                <a:latin typeface="Noto Sans CJK JP"/>
              </a:defRPr>
            </a:pPr>
            <a:r>
              <a:t>県民が日々の生活で取り組んでいるエコアクションについて、Instagramへの投稿を促す。</a:t>
            </a:r>
          </a:p>
          <a:p>
            <a:pPr>
              <a:lnSpc>
                <a:spcPct val="115000"/>
              </a:lnSpc>
              <a:spcAft>
                <a:spcPts val="700"/>
              </a:spcAft>
              <a:defRPr sz="2300" b="0">
                <a:solidFill>
                  <a:srgbClr val="17353B"/>
                </a:solidFill>
                <a:latin typeface="Noto Sans CJK JP"/>
              </a:defRPr>
            </a:pPr>
            <a:r>
              <a:t>写真や動画を1点以上添付、みやぎゼロカーボン公式アカウントをタグ付けしてもらう。</a:t>
            </a:r>
          </a:p>
          <a:p>
            <a:pPr>
              <a:lnSpc>
                <a:spcPct val="115000"/>
              </a:lnSpc>
              <a:spcAft>
                <a:spcPts val="700"/>
              </a:spcAft>
              <a:defRPr sz="2300" b="0">
                <a:solidFill>
                  <a:srgbClr val="17353B"/>
                </a:solidFill>
                <a:latin typeface="Noto Sans CJK JP"/>
              </a:defRPr>
            </a:pPr>
            <a:r>
              <a:t>優秀作品はイベント当日にステージ表彰し、モニターでエコアクションの映像を放映する。</a:t>
            </a:r>
          </a:p>
        </p:txBody>
      </p:sp>
      <p:sp>
        <p:nvSpPr>
          <p:cNvPr id="11" name="Rectangle 10"/>
          <p:cNvSpPr/>
          <p:nvPr/>
        </p:nvSpPr>
        <p:spPr>
          <a:xfrm>
            <a:off x="868680" y="4846320"/>
            <a:ext cx="8046720" cy="46177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4846320"/>
            <a:ext cx="54864" cy="46177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4974336"/>
            <a:ext cx="7644384" cy="4361688"/>
          </a:xfrm>
          <a:prstGeom prst="rect">
            <a:avLst/>
          </a:prstGeom>
          <a:noFill/>
        </p:spPr>
        <p:txBody>
          <a:bodyPr wrap="square" lIns="73152" rIns="73152" tIns="36576" bIns="36576">
            <a:spAutoFit/>
          </a:bodyPr>
          <a:lstStyle/>
          <a:p>
            <a:pPr>
              <a:lnSpc>
                <a:spcPct val="115000"/>
              </a:lnSpc>
              <a:spcAft>
                <a:spcPts val="700"/>
              </a:spcAft>
              <a:defRPr sz="2900" b="0">
                <a:solidFill>
                  <a:srgbClr val="17353B"/>
                </a:solidFill>
                <a:latin typeface="Noto Sans CJK JP"/>
              </a:defRPr>
            </a:pPr>
            <a:r>
              <a:t>その他</a:t>
            </a:r>
          </a:p>
          <a:p>
            <a:pPr>
              <a:lnSpc>
                <a:spcPct val="115000"/>
              </a:lnSpc>
              <a:spcAft>
                <a:spcPts val="700"/>
              </a:spcAft>
              <a:defRPr sz="2900" b="0">
                <a:solidFill>
                  <a:srgbClr val="17353B"/>
                </a:solidFill>
                <a:latin typeface="Noto Sans CJK JP"/>
              </a:defRPr>
            </a:pPr>
            <a:r>
              <a:t>表彰に用いる景品は、イベントの出展企業・協賛企業からの提供品を予定。</a:t>
            </a:r>
          </a:p>
          <a:p>
            <a:pPr>
              <a:lnSpc>
                <a:spcPct val="115000"/>
              </a:lnSpc>
              <a:spcAft>
                <a:spcPts val="700"/>
              </a:spcAft>
              <a:defRPr sz="2900" b="0">
                <a:solidFill>
                  <a:srgbClr val="17353B"/>
                </a:solidFill>
                <a:latin typeface="Noto Sans CJK JP"/>
              </a:defRPr>
            </a:pPr>
            <a:r>
              <a:t>賞の内容は、最優秀賞(1名) 優秀賞(2名) アイデア賞(1~2名) 。</a:t>
            </a:r>
          </a:p>
          <a:p>
            <a:pPr>
              <a:lnSpc>
                <a:spcPct val="115000"/>
              </a:lnSpc>
              <a:spcAft>
                <a:spcPts val="700"/>
              </a:spcAft>
              <a:defRPr sz="2900" b="0">
                <a:solidFill>
                  <a:srgbClr val="17353B"/>
                </a:solidFill>
                <a:latin typeface="Noto Sans CJK JP"/>
              </a:defRPr>
            </a:pPr>
            <a:r>
              <a:t>審査は学生アンバサダーが行い、県の方に確認していただく流れ。</a:t>
            </a:r>
          </a:p>
        </p:txBody>
      </p:sp>
      <p:sp>
        <p:nvSpPr>
          <p:cNvPr id="14" name="Rectangle 13"/>
          <p:cNvSpPr/>
          <p:nvPr/>
        </p:nvSpPr>
        <p:spPr>
          <a:xfrm>
            <a:off x="9281160" y="6400800"/>
            <a:ext cx="8138160" cy="30632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81160" y="6400800"/>
            <a:ext cx="54864" cy="306324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82328" y="6528816"/>
            <a:ext cx="7735824" cy="2807208"/>
          </a:xfrm>
          <a:prstGeom prst="rect">
            <a:avLst/>
          </a:prstGeom>
          <a:noFill/>
        </p:spPr>
        <p:txBody>
          <a:bodyPr wrap="square" lIns="73152" rIns="73152" tIns="36576" bIns="36576">
            <a:spAutoFit/>
          </a:bodyPr>
          <a:lstStyle/>
          <a:p>
            <a:pPr>
              <a:lnSpc>
                <a:spcPct val="115000"/>
              </a:lnSpc>
              <a:spcAft>
                <a:spcPts val="700"/>
              </a:spcAft>
              <a:defRPr sz="2700" b="0">
                <a:solidFill>
                  <a:srgbClr val="17353B"/>
                </a:solidFill>
                <a:latin typeface="Noto Sans CJK JP"/>
              </a:defRPr>
            </a:pPr>
            <a:r>
              <a:t>スケジュール</a:t>
            </a:r>
          </a:p>
          <a:p>
            <a:pPr>
              <a:lnSpc>
                <a:spcPct val="115000"/>
              </a:lnSpc>
              <a:spcAft>
                <a:spcPts val="700"/>
              </a:spcAft>
              <a:defRPr sz="2700" b="0">
                <a:solidFill>
                  <a:srgbClr val="17353B"/>
                </a:solidFill>
                <a:latin typeface="Noto Sans CJK JP"/>
              </a:defRPr>
            </a:pPr>
            <a:r>
              <a:t>11月中旬：Instagram投稿募集、企業への提供品依頼　12月中旬:提供品確定　</a:t>
            </a:r>
          </a:p>
          <a:p>
            <a:pPr>
              <a:lnSpc>
                <a:spcPct val="115000"/>
              </a:lnSpc>
              <a:spcAft>
                <a:spcPts val="700"/>
              </a:spcAft>
              <a:defRPr sz="2700" b="0">
                <a:solidFill>
                  <a:srgbClr val="17353B"/>
                </a:solidFill>
                <a:latin typeface="Noto Sans CJK JP"/>
              </a:defRPr>
            </a:pPr>
            <a:r>
              <a:t>1月上旬：審査・動画編集　1月中旬：賞品納品</a:t>
            </a:r>
          </a:p>
        </p:txBody>
      </p:sp>
    </p:spTree>
  </p:cSld>
  <p:clrMapOvr>
    <a:masterClrMapping/>
  </p:clrMapOvr>
</p:sld>
</file>

<file path=ppt/slides/slide21.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広報チラシの活用(坂本)</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21 / 26</a:t>
            </a:r>
          </a:p>
        </p:txBody>
      </p:sp>
      <p:sp>
        <p:nvSpPr>
          <p:cNvPr id="5" name="Rectangle 4"/>
          <p:cNvSpPr/>
          <p:nvPr/>
        </p:nvSpPr>
        <p:spPr>
          <a:xfrm>
            <a:off x="868680" y="2423160"/>
            <a:ext cx="8046720" cy="6583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423160"/>
            <a:ext cx="54864" cy="65836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551176"/>
            <a:ext cx="7644384" cy="6327648"/>
          </a:xfrm>
          <a:prstGeom prst="rect">
            <a:avLst/>
          </a:prstGeom>
          <a:noFill/>
        </p:spPr>
        <p:txBody>
          <a:bodyPr wrap="square" lIns="73152" rIns="73152" tIns="36576" bIns="36576">
            <a:spAutoFit/>
          </a:bodyPr>
          <a:lstStyle/>
          <a:p>
            <a:pPr>
              <a:lnSpc>
                <a:spcPct val="115000"/>
              </a:lnSpc>
              <a:spcAft>
                <a:spcPts val="700"/>
              </a:spcAft>
              <a:defRPr sz="4000" b="0">
                <a:solidFill>
                  <a:srgbClr val="17353B"/>
                </a:solidFill>
                <a:latin typeface="Noto Sans CJK JP"/>
              </a:defRPr>
            </a:pPr>
            <a:r>
              <a:t>活用方法</a:t>
            </a:r>
          </a:p>
          <a:p>
            <a:pPr>
              <a:lnSpc>
                <a:spcPct val="115000"/>
              </a:lnSpc>
              <a:spcAft>
                <a:spcPts val="700"/>
              </a:spcAft>
              <a:defRPr sz="4000" b="0">
                <a:solidFill>
                  <a:srgbClr val="17353B"/>
                </a:solidFill>
                <a:latin typeface="Noto Sans CJK JP"/>
              </a:defRPr>
            </a:pPr>
          </a:p>
          <a:p>
            <a:pPr>
              <a:lnSpc>
                <a:spcPct val="115000"/>
              </a:lnSpc>
              <a:spcAft>
                <a:spcPts val="700"/>
              </a:spcAft>
              <a:defRPr sz="4000" b="0">
                <a:solidFill>
                  <a:srgbClr val="17353B"/>
                </a:solidFill>
                <a:latin typeface="Noto Sans CJK JP"/>
              </a:defRPr>
            </a:pPr>
            <a:r>
              <a:t>イベント側で作成した広報チラシを我々学生で配布する</a:t>
            </a:r>
          </a:p>
        </p:txBody>
      </p:sp>
      <p:sp>
        <p:nvSpPr>
          <p:cNvPr id="8" name="Rectangle 7"/>
          <p:cNvSpPr/>
          <p:nvPr/>
        </p:nvSpPr>
        <p:spPr>
          <a:xfrm>
            <a:off x="9281160" y="2423160"/>
            <a:ext cx="8138160" cy="65836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1160" y="2423160"/>
            <a:ext cx="54864" cy="658368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82328" y="2551176"/>
            <a:ext cx="7735824" cy="6327648"/>
          </a:xfrm>
          <a:prstGeom prst="rect">
            <a:avLst/>
          </a:prstGeom>
          <a:noFill/>
        </p:spPr>
        <p:txBody>
          <a:bodyPr wrap="square" lIns="73152" rIns="73152" tIns="36576" bIns="36576">
            <a:spAutoFit/>
          </a:bodyPr>
          <a:lstStyle/>
          <a:p>
            <a:pPr>
              <a:lnSpc>
                <a:spcPct val="115000"/>
              </a:lnSpc>
              <a:spcAft>
                <a:spcPts val="700"/>
              </a:spcAft>
              <a:defRPr sz="3800" b="0">
                <a:solidFill>
                  <a:srgbClr val="17353B"/>
                </a:solidFill>
                <a:latin typeface="Noto Sans CJK JP"/>
              </a:defRPr>
            </a:pPr>
            <a:r>
              <a:t>配布先(例)</a:t>
            </a:r>
          </a:p>
          <a:p>
            <a:pPr>
              <a:lnSpc>
                <a:spcPct val="115000"/>
              </a:lnSpc>
              <a:spcAft>
                <a:spcPts val="700"/>
              </a:spcAft>
              <a:defRPr sz="3800" b="0">
                <a:solidFill>
                  <a:srgbClr val="17353B"/>
                </a:solidFill>
                <a:latin typeface="Noto Sans CJK JP"/>
              </a:defRPr>
            </a:pPr>
          </a:p>
          <a:p>
            <a:pPr>
              <a:lnSpc>
                <a:spcPct val="115000"/>
              </a:lnSpc>
              <a:spcAft>
                <a:spcPts val="700"/>
              </a:spcAft>
              <a:defRPr sz="3800" b="0">
                <a:solidFill>
                  <a:srgbClr val="17353B"/>
                </a:solidFill>
                <a:latin typeface="Noto Sans CJK JP"/>
              </a:defRPr>
            </a:pPr>
            <a:r>
              <a:t>各々の大学へ掛け合う</a:t>
            </a:r>
          </a:p>
          <a:p>
            <a:pPr>
              <a:lnSpc>
                <a:spcPct val="115000"/>
              </a:lnSpc>
              <a:spcAft>
                <a:spcPts val="700"/>
              </a:spcAft>
              <a:defRPr sz="3800" b="0">
                <a:solidFill>
                  <a:srgbClr val="17353B"/>
                </a:solidFill>
                <a:latin typeface="Noto Sans CJK JP"/>
              </a:defRPr>
            </a:pPr>
            <a:r>
              <a:t>各々のバイト先へ打診し、</a:t>
            </a:r>
          </a:p>
          <a:p>
            <a:pPr>
              <a:lnSpc>
                <a:spcPct val="115000"/>
              </a:lnSpc>
              <a:spcAft>
                <a:spcPts val="700"/>
              </a:spcAft>
              <a:defRPr sz="3800" b="0">
                <a:solidFill>
                  <a:srgbClr val="17353B"/>
                </a:solidFill>
                <a:latin typeface="Noto Sans CJK JP"/>
              </a:defRPr>
            </a:pPr>
            <a:r>
              <a:t>　   可能であれば設置・掲載してもらう</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期待される効果 </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22 / 26</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期待される効果</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23 / 26</a:t>
            </a:r>
          </a:p>
        </p:txBody>
      </p:sp>
      <p:sp>
        <p:nvSpPr>
          <p:cNvPr id="5" name="Rectangle 4"/>
          <p:cNvSpPr/>
          <p:nvPr/>
        </p:nvSpPr>
        <p:spPr>
          <a:xfrm>
            <a:off x="868680" y="2194560"/>
            <a:ext cx="813816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68680" y="2194560"/>
            <a:ext cx="54864" cy="33375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322576"/>
            <a:ext cx="7735824" cy="3081528"/>
          </a:xfrm>
          <a:prstGeom prst="rect">
            <a:avLst/>
          </a:prstGeom>
          <a:noFill/>
        </p:spPr>
        <p:txBody>
          <a:bodyPr wrap="square" lIns="73152" rIns="73152" tIns="36576" bIns="36576">
            <a:spAutoFit/>
          </a:bodyPr>
          <a:lstStyle/>
          <a:p>
            <a:pPr>
              <a:lnSpc>
                <a:spcPct val="115000"/>
              </a:lnSpc>
              <a:spcAft>
                <a:spcPts val="700"/>
              </a:spcAft>
              <a:defRPr sz="2600" b="0">
                <a:solidFill>
                  <a:srgbClr val="17353B"/>
                </a:solidFill>
                <a:latin typeface="Noto Sans CJK JP"/>
              </a:defRPr>
            </a:pPr>
            <a:r>
              <a:t>・イベントのために訪れた層（主に家族連れ）には時間を掛けて楽しむコンテンツ、</a:t>
            </a:r>
          </a:p>
          <a:p>
            <a:pPr>
              <a:lnSpc>
                <a:spcPct val="115000"/>
              </a:lnSpc>
              <a:spcAft>
                <a:spcPts val="700"/>
              </a:spcAft>
              <a:defRPr sz="2600" b="0">
                <a:solidFill>
                  <a:srgbClr val="17353B"/>
                </a:solidFill>
                <a:latin typeface="Noto Sans CJK JP"/>
              </a:defRPr>
            </a:pPr>
            <a:r>
              <a:t>　会場に偶然訪れたライト層（主に若者）には短時間で楽しめるコンテンツを用意することで、</a:t>
            </a:r>
          </a:p>
          <a:p>
            <a:pPr>
              <a:lnSpc>
                <a:spcPct val="115000"/>
              </a:lnSpc>
              <a:spcAft>
                <a:spcPts val="700"/>
              </a:spcAft>
              <a:defRPr sz="2600" b="0">
                <a:solidFill>
                  <a:srgbClr val="17353B"/>
                </a:solidFill>
                <a:latin typeface="Noto Sans CJK JP"/>
              </a:defRPr>
            </a:pPr>
            <a:r>
              <a:t>　来場者数と満足度が上がる。</a:t>
            </a:r>
          </a:p>
        </p:txBody>
      </p:sp>
      <p:sp>
        <p:nvSpPr>
          <p:cNvPr id="8" name="Rectangle 7"/>
          <p:cNvSpPr/>
          <p:nvPr/>
        </p:nvSpPr>
        <p:spPr>
          <a:xfrm>
            <a:off x="9281159" y="2194560"/>
            <a:ext cx="813816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281159" y="2194560"/>
            <a:ext cx="54864" cy="33375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82328" y="2322576"/>
            <a:ext cx="7735824" cy="3081528"/>
          </a:xfrm>
          <a:prstGeom prst="rect">
            <a:avLst/>
          </a:prstGeom>
          <a:noFill/>
        </p:spPr>
        <p:txBody>
          <a:bodyPr wrap="square" lIns="73152" rIns="73152" tIns="36576" bIns="36576">
            <a:spAutoFit/>
          </a:bodyPr>
          <a:lstStyle/>
          <a:p>
            <a:pPr>
              <a:lnSpc>
                <a:spcPct val="115000"/>
              </a:lnSpc>
              <a:spcAft>
                <a:spcPts val="700"/>
              </a:spcAft>
              <a:defRPr sz="3300" b="0">
                <a:solidFill>
                  <a:srgbClr val="17353B"/>
                </a:solidFill>
                <a:latin typeface="Noto Sans CJK JP"/>
              </a:defRPr>
            </a:pPr>
            <a:r>
              <a:t>・SNSの投稿頻度を増やすことで、若者が活動の存在を知る可能性が上がる。</a:t>
            </a:r>
          </a:p>
        </p:txBody>
      </p:sp>
      <p:sp>
        <p:nvSpPr>
          <p:cNvPr id="11" name="Rectangle 10"/>
          <p:cNvSpPr/>
          <p:nvPr/>
        </p:nvSpPr>
        <p:spPr>
          <a:xfrm>
            <a:off x="868680" y="5852160"/>
            <a:ext cx="813816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68680" y="5852160"/>
            <a:ext cx="54864" cy="33375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69848" y="5980176"/>
            <a:ext cx="7735824" cy="3081528"/>
          </a:xfrm>
          <a:prstGeom prst="rect">
            <a:avLst/>
          </a:prstGeom>
          <a:noFill/>
        </p:spPr>
        <p:txBody>
          <a:bodyPr wrap="square" lIns="73152" rIns="73152" tIns="36576" bIns="36576">
            <a:spAutoFit/>
          </a:bodyPr>
          <a:lstStyle/>
          <a:p>
            <a:pPr>
              <a:lnSpc>
                <a:spcPct val="115000"/>
              </a:lnSpc>
              <a:spcAft>
                <a:spcPts val="700"/>
              </a:spcAft>
              <a:defRPr sz="2600" b="0">
                <a:solidFill>
                  <a:srgbClr val="17353B"/>
                </a:solidFill>
                <a:latin typeface="Noto Sans CJK JP"/>
              </a:defRPr>
            </a:pPr>
            <a:r>
              <a:t>・県民に情報の主体的な受信者（ex.目的に応じてブースを選んで見に行く）または発信者</a:t>
            </a:r>
          </a:p>
          <a:p>
            <a:pPr>
              <a:lnSpc>
                <a:spcPct val="115000"/>
              </a:lnSpc>
              <a:spcAft>
                <a:spcPts val="700"/>
              </a:spcAft>
              <a:defRPr sz="2600" b="0">
                <a:solidFill>
                  <a:srgbClr val="17353B"/>
                </a:solidFill>
                <a:latin typeface="Noto Sans CJK JP"/>
              </a:defRPr>
            </a:pPr>
            <a:r>
              <a:t>（ex.自分のアクションを紹介する）となってもらうコンテンツを用意することで、環境配慮行動</a:t>
            </a:r>
          </a:p>
          <a:p>
            <a:pPr>
              <a:lnSpc>
                <a:spcPct val="115000"/>
              </a:lnSpc>
              <a:spcAft>
                <a:spcPts val="700"/>
              </a:spcAft>
              <a:defRPr sz="2600" b="0">
                <a:solidFill>
                  <a:srgbClr val="17353B"/>
                </a:solidFill>
                <a:latin typeface="Noto Sans CJK JP"/>
              </a:defRPr>
            </a:pPr>
            <a:r>
              <a:t>　の必要性を自分事として捉えてもらう</a:t>
            </a:r>
          </a:p>
        </p:txBody>
      </p:sp>
      <p:sp>
        <p:nvSpPr>
          <p:cNvPr id="14" name="Rectangle 13"/>
          <p:cNvSpPr/>
          <p:nvPr/>
        </p:nvSpPr>
        <p:spPr>
          <a:xfrm>
            <a:off x="9281159" y="5852160"/>
            <a:ext cx="8138160" cy="3337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281159" y="5852160"/>
            <a:ext cx="54864" cy="333756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82328" y="5980176"/>
            <a:ext cx="7735824" cy="3081528"/>
          </a:xfrm>
          <a:prstGeom prst="rect">
            <a:avLst/>
          </a:prstGeom>
          <a:noFill/>
        </p:spPr>
        <p:txBody>
          <a:bodyPr wrap="square" lIns="73152" rIns="73152" tIns="36576" bIns="36576">
            <a:spAutoFit/>
          </a:bodyPr>
          <a:lstStyle/>
          <a:p>
            <a:pPr>
              <a:lnSpc>
                <a:spcPct val="115000"/>
              </a:lnSpc>
              <a:spcAft>
                <a:spcPts val="700"/>
              </a:spcAft>
              <a:defRPr sz="3300" b="0">
                <a:solidFill>
                  <a:srgbClr val="17353B"/>
                </a:solidFill>
                <a:latin typeface="Noto Sans CJK JP"/>
              </a:defRPr>
            </a:pPr>
            <a:r>
              <a:t>・アンケートの調査結果を踏まえて施策を工夫することで、よりニーズに合ったコンテンツを</a:t>
            </a:r>
          </a:p>
          <a:p>
            <a:pPr>
              <a:lnSpc>
                <a:spcPct val="115000"/>
              </a:lnSpc>
              <a:spcAft>
                <a:spcPts val="700"/>
              </a:spcAft>
              <a:defRPr sz="3300" b="0">
                <a:solidFill>
                  <a:srgbClr val="17353B"/>
                </a:solidFill>
                <a:latin typeface="Noto Sans CJK JP"/>
              </a:defRPr>
            </a:pPr>
            <a:r>
              <a:t>　作ることができる。</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終わりに</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24 / 26</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F5F8FA"/>
        </a:solidFill>
      </p:bgPr>
    </p:bg>
    <p:spTree>
      <p:nvGrpSpPr>
        <p:cNvPr id="1" name=""/>
        <p:cNvGrpSpPr/>
        <p:nvPr/>
      </p:nvGrpSpPr>
      <p:grpSpPr>
        <a:xfrm>
          <a:off x="0" y="0"/>
          <a:ext cx="0" cy="0"/>
          <a:chOff x="0" y="0"/>
          <a:chExt cx="0" cy="0"/>
        </a:xfrm>
      </p:grpSpPr>
      <p:sp>
        <p:nvSpPr>
          <p:cNvPr id="2" name="TextBox 1"/>
          <p:cNvSpPr txBox="1"/>
          <p:nvPr/>
        </p:nvSpPr>
        <p:spPr>
          <a:xfrm>
            <a:off x="777240" y="548640"/>
            <a:ext cx="16733520" cy="914400"/>
          </a:xfrm>
          <a:prstGeom prst="rect">
            <a:avLst/>
          </a:prstGeom>
          <a:noFill/>
        </p:spPr>
        <p:txBody>
          <a:bodyPr wrap="square" lIns="73152" rIns="73152" tIns="36576" bIns="36576">
            <a:spAutoFit/>
          </a:bodyPr>
          <a:lstStyle/>
          <a:p>
            <a:pPr>
              <a:lnSpc>
                <a:spcPct val="115000"/>
              </a:lnSpc>
              <a:spcAft>
                <a:spcPts val="700"/>
              </a:spcAft>
              <a:defRPr sz="4300" b="1">
                <a:solidFill>
                  <a:srgbClr val="167568"/>
                </a:solidFill>
                <a:latin typeface="Noto Sans CJK JP"/>
              </a:defRPr>
            </a:pPr>
            <a:r>
              <a:t>イベント成功に向けて</a:t>
            </a:r>
          </a:p>
        </p:txBody>
      </p:sp>
      <p:sp>
        <p:nvSpPr>
          <p:cNvPr id="3" name="Rectangle 2"/>
          <p:cNvSpPr/>
          <p:nvPr/>
        </p:nvSpPr>
        <p:spPr>
          <a:xfrm>
            <a:off x="822960" y="1691640"/>
            <a:ext cx="16642080" cy="32004"/>
          </a:xfrm>
          <a:prstGeom prst="rect">
            <a:avLst/>
          </a:prstGeom>
          <a:solidFill>
            <a:srgbClr val="C5DA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367759" y="9738360"/>
            <a:ext cx="1097280" cy="27432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25 / 26</a:t>
            </a:r>
          </a:p>
        </p:txBody>
      </p:sp>
      <p:sp>
        <p:nvSpPr>
          <p:cNvPr id="5" name="Rectangle 4"/>
          <p:cNvSpPr/>
          <p:nvPr/>
        </p:nvSpPr>
        <p:spPr>
          <a:xfrm>
            <a:off x="1463040" y="2743200"/>
            <a:ext cx="1536192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463040" y="2743200"/>
            <a:ext cx="54864" cy="228600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64208" y="2871216"/>
            <a:ext cx="14959584" cy="2029967"/>
          </a:xfrm>
          <a:prstGeom prst="rect">
            <a:avLst/>
          </a:prstGeom>
          <a:noFill/>
        </p:spPr>
        <p:txBody>
          <a:bodyPr wrap="square" lIns="73152" rIns="73152" tIns="36576" bIns="36576">
            <a:spAutoFit/>
          </a:bodyPr>
          <a:lstStyle/>
          <a:p>
            <a:pPr>
              <a:lnSpc>
                <a:spcPct val="115000"/>
              </a:lnSpc>
              <a:spcAft>
                <a:spcPts val="700"/>
              </a:spcAft>
              <a:defRPr sz="3500" b="0">
                <a:solidFill>
                  <a:srgbClr val="17353B"/>
                </a:solidFill>
                <a:latin typeface="Noto Sans CJK JP"/>
              </a:defRPr>
            </a:pPr>
            <a:r>
              <a:t>大学生という立場だからこそ生み出せるアイデアや行動力を意識し、</a:t>
            </a:r>
          </a:p>
          <a:p>
            <a:pPr>
              <a:lnSpc>
                <a:spcPct val="115000"/>
              </a:lnSpc>
              <a:spcAft>
                <a:spcPts val="700"/>
              </a:spcAft>
              <a:defRPr sz="3500" b="0">
                <a:solidFill>
                  <a:srgbClr val="17353B"/>
                </a:solidFill>
                <a:latin typeface="Noto Sans CJK JP"/>
              </a:defRPr>
            </a:pPr>
            <a:r>
              <a:t>1月のイベント開催に向けて各施策を一つずつ着実に進めてまいります。</a:t>
            </a:r>
          </a:p>
        </p:txBody>
      </p:sp>
      <p:sp>
        <p:nvSpPr>
          <p:cNvPr id="8" name="Rectangle 7"/>
          <p:cNvSpPr/>
          <p:nvPr/>
        </p:nvSpPr>
        <p:spPr>
          <a:xfrm>
            <a:off x="1463040" y="5486400"/>
            <a:ext cx="15361920" cy="30175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463040" y="5486400"/>
            <a:ext cx="54864" cy="3017520"/>
          </a:xfrm>
          <a:prstGeom prst="rect">
            <a:avLst/>
          </a:prstGeom>
          <a:solidFill>
            <a:srgbClr val="C5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64208" y="5614416"/>
            <a:ext cx="14959584" cy="2761487"/>
          </a:xfrm>
          <a:prstGeom prst="rect">
            <a:avLst/>
          </a:prstGeom>
          <a:noFill/>
        </p:spPr>
        <p:txBody>
          <a:bodyPr wrap="square" lIns="73152" rIns="73152" tIns="36576" bIns="36576">
            <a:spAutoFit/>
          </a:bodyPr>
          <a:lstStyle/>
          <a:p>
            <a:pPr>
              <a:lnSpc>
                <a:spcPct val="115000"/>
              </a:lnSpc>
              <a:spcAft>
                <a:spcPts val="700"/>
              </a:spcAft>
              <a:defRPr sz="3900" b="0">
                <a:solidFill>
                  <a:srgbClr val="17353B"/>
                </a:solidFill>
                <a:latin typeface="Noto Sans CJK JP"/>
              </a:defRPr>
            </a:pPr>
            <a:r>
              <a:t>また、施策の実現のためには、宮城県様のご協力が不可欠です。</a:t>
            </a:r>
          </a:p>
          <a:p>
            <a:pPr>
              <a:lnSpc>
                <a:spcPct val="115000"/>
              </a:lnSpc>
              <a:spcAft>
                <a:spcPts val="700"/>
              </a:spcAft>
              <a:defRPr sz="3900" b="0">
                <a:solidFill>
                  <a:srgbClr val="17353B"/>
                </a:solidFill>
                <a:latin typeface="Noto Sans CJK JP"/>
              </a:defRPr>
            </a:pPr>
            <a:r>
              <a:t>記憶に残る素敵なイベントにしていきたいと思いますので、</a:t>
            </a:r>
          </a:p>
          <a:p>
            <a:pPr>
              <a:lnSpc>
                <a:spcPct val="115000"/>
              </a:lnSpc>
              <a:spcAft>
                <a:spcPts val="700"/>
              </a:spcAft>
              <a:defRPr sz="3900" b="0">
                <a:solidFill>
                  <a:srgbClr val="17353B"/>
                </a:solidFill>
                <a:latin typeface="Noto Sans CJK JP"/>
              </a:defRPr>
            </a:pPr>
            <a:r>
              <a:t>ぜひお力添えをよろしくお願いいたします。</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5F8FA"/>
        </a:solidFill>
      </p:bgPr>
    </p:bg>
    <p:spTree>
      <p:nvGrpSpPr>
        <p:cNvPr id="1" name=""/>
        <p:cNvGrpSpPr/>
        <p:nvPr/>
      </p:nvGrpSpPr>
      <p:grpSpPr>
        <a:xfrm>
          <a:off x="0" y="0"/>
          <a:ext cx="0" cy="0"/>
          <a:chOff x="0" y="0"/>
          <a:chExt cx="0" cy="0"/>
        </a:xfrm>
      </p:grpSpPr>
      <p:sp>
        <p:nvSpPr>
          <p:cNvPr id="2" name="Rectangle 1"/>
          <p:cNvSpPr/>
          <p:nvPr/>
        </p:nvSpPr>
        <p:spPr>
          <a:xfrm>
            <a:off x="0" y="0"/>
            <a:ext cx="228600" cy="10287000"/>
          </a:xfrm>
          <a:prstGeom prst="rect">
            <a:avLst/>
          </a:prstGeom>
          <a:solidFill>
            <a:srgbClr val="1675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258800" y="0"/>
            <a:ext cx="5029200" cy="10287000"/>
          </a:xfrm>
          <a:prstGeom prst="rect">
            <a:avLst/>
          </a:prstGeom>
          <a:solidFill>
            <a:srgbClr val="E1E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3931920"/>
            <a:ext cx="15544800" cy="1828800"/>
          </a:xfrm>
          <a:prstGeom prst="rect">
            <a:avLst/>
          </a:prstGeom>
          <a:noFill/>
        </p:spPr>
        <p:txBody>
          <a:bodyPr wrap="square" lIns="73152" rIns="73152" tIns="36576" bIns="36576">
            <a:spAutoFit/>
          </a:bodyPr>
          <a:lstStyle/>
          <a:p>
            <a:pPr>
              <a:lnSpc>
                <a:spcPct val="115000"/>
              </a:lnSpc>
              <a:spcAft>
                <a:spcPts val="700"/>
              </a:spcAft>
              <a:defRPr sz="6400" b="1">
                <a:solidFill>
                  <a:srgbClr val="167568"/>
                </a:solidFill>
                <a:latin typeface="Noto Sans CJK JP"/>
              </a:defRPr>
            </a:pPr>
            <a:r>
              <a:t>質疑応答</a:t>
            </a:r>
          </a:p>
        </p:txBody>
      </p:sp>
      <p:sp>
        <p:nvSpPr>
          <p:cNvPr id="5" name="TextBox 4"/>
          <p:cNvSpPr txBox="1"/>
          <p:nvPr/>
        </p:nvSpPr>
        <p:spPr>
          <a:xfrm>
            <a:off x="16276320" y="9692640"/>
            <a:ext cx="1188720" cy="320040"/>
          </a:xfrm>
          <a:prstGeom prst="rect">
            <a:avLst/>
          </a:prstGeom>
          <a:noFill/>
        </p:spPr>
        <p:txBody>
          <a:bodyPr wrap="square" lIns="73152" rIns="73152" tIns="36576" bIns="36576">
            <a:spAutoFit/>
          </a:bodyPr>
          <a:lstStyle/>
          <a:p>
            <a:pPr>
              <a:lnSpc>
                <a:spcPct val="115000"/>
              </a:lnSpc>
              <a:spcAft>
                <a:spcPts val="700"/>
              </a:spcAft>
              <a:defRPr sz="1500" b="0">
                <a:solidFill>
                  <a:srgbClr val="53676D"/>
                </a:solidFill>
                <a:latin typeface="Noto Sans CJK JP"/>
              </a:defRPr>
            </a:pPr>
            <a:r>
              <a:t>26 / 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DAHYnkkaOC0</dc:identifier>
  <dcterms:modified xsi:type="dcterms:W3CDTF">2011-08-01T06:04:30Z</dcterms:modified>
  <cp:revision>1</cp:revision>
  <dc:title>（コピー）企画提案スライド2026_1015_みやぎゼロカーボン学生アンバサダーのコピー</dc:title>
</cp:coreProperties>
</file>